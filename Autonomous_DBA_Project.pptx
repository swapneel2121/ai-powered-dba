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Swapneel. This project is an AI-powered autonomous Database Administrator — an agent that continuously watches PostgreSQL and MySQL, finds performance problems, proposes fixes, and can safely apply them with a human in the loop. Goal for today: show the architecture, a live demo, and the engineering decisions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Databases drift toward trouble faster than teams can react. Six recurring failure modes: slow queries, bad indexes, table bloat, lock contention, connection exhaustion, replication lag. Traditional DBA work is manual, reactive, and risky. And it has to hold at scale — 100M+ rows, 1000+ queries/min, under 2% monitoring overhead, on both Postgres 14+ and MySQL 8. That overhead budget is what forces an efficient async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Monitored databases feed an async monitoring agent that polls metrics and pg_stat_statements. Queries get fingerprinted and classified; an anomaly detector uses z-score and IQR; an EXPLAIN parser structures the plan. Everything lands in TimescaleDB, served by FastAPI with an SSE stream. On the right are the actions: the LLM optimizer (Ollama/Groq with a rule-based fallback), workload replay on a shadow DB, capacity forecasting, the approval state machine, backup verification, and security scanning. Every destructive change is gated by approval and written to an immutable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is Python asyncio so polling never blocks — key to the 2% overhead budget. FastAPI for the API and SSE. TimescaleDB because it's Postgres-native with hypertables, rollups, and retention. Redis caches LLM responses. The LLM layer is Ollama locally with a Groq fallback, and crucially a rule-based fallback so the pipeline works with no model at all. Frontend is React 18 + TypeScript with Recharts, streaming over SSE. Everything is containerized with docker-compose.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capabilities map directly to the project's expected outputs. Monitoring, slow-query detection, optimization, replay, forecasting, approval, backup verification, security detection, and a natural-language chat. The chat is notable: common questions like 'top 5 slowest queries' are answered deterministically straight from the data, so it works even without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 the safe optimization loop. We monitor, fingerprint, detect an anomaly, analyze with EXPLAIN plus the LLM or heuristics, propose a concrete change, then — and this is the hardest and most important part — replay it against a shadow database to measure the real before/after delta. Only then does a human approve, and on deploy we keep watching and auto-rollback if p99 latency regresses. Safety rails: approval, audit trail,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stack is one 'docker compose up'. Nine services on one network. I designed startup to be degraded-mode tolerant — the API boots and serves even if TimescaleDB, Redis, or Ollama aren't up yet, and reconnects later. The frontend is served by Nginx with gzip and immutable asset caching for fast reloads. The sample dataset size is configurable via env vars, from about 15 million rows up to the 100M+ scale from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streams live over Server-Sent Events — KPI cards and charts update every ten seconds. Six tabs: live Dashboard, Slow Queries with a one-click Optimize, an Optimization review screen with approve/reject, Capacity forecasts with confidence bands, the AI Chat, and Alerts/Settings for security events and thresholds. This mockup mirrors the real running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locally is three steps: clone and copy the env file, then 'docker compose up --build' from infra/docker. Optionally pull a small model into Ollama for live LLM answers. In the live demo I'll open the dashboard on :3000, show the OpenAPI docs on :8000/docs, trigger an optimization on a slow query, and ask the chat for the slowest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I'd highlight. The app crashed at import because pydantic-settings tried to JSON-parse the comma-separated database list — fixed with a raw string plus a parsed property. The dashboard showed nothing because the agent wrote metrics but never pushed them to the SSE stream — I added a publish callback. And pg_stat_statements quietly did nothing until I preloaded the library via the compose command and seeded a workload. The through-line: most issues were integration and contract problems, not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landed: 13 endpoints, nine of ten expected-output features working, monitoring 15M+ rows live, designed to stay under the 2% overhead budget. Biggest lessons: graceful degradation beats hard failure; treat the frontend-backend contract as first-class; build observability in from day one; and scope to the slice that actually demonstrates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questions: safety (approval + replay + rollback + audit), scaling (Celery workers, connection pooling, data tiering — scaffolded), why both rule-based and LLM (reliability and cost vs. flexibility), and what's next (Alerts UI, automatic p99 rollback trigger,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or walk through any part of the code or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640080" y="1051560"/>
            <a:ext cx="7772400" cy="274320"/>
          </a:xfrm>
          <a:prstGeom prst="rect">
            <a:avLst/>
          </a:prstGeom>
          <a:noFill/>
          <a:ln/>
        </p:spPr>
        <p:txBody>
          <a:bodyPr wrap="square" lIns="0" tIns="0" rIns="0" bIns="0" rtlCol="0" anchor="ctr"/>
          <a:lstStyle/>
          <a:p>
            <a:pPr indent="0" marL="0">
              <a:buNone/>
            </a:pPr>
            <a:r>
              <a:rPr lang="en-US" sz="1300" b="1" spc="200" kern="0" dirty="0">
                <a:solidFill>
                  <a:srgbClr val="67E8F9"/>
                </a:solidFill>
                <a:latin typeface="Calibri" pitchFamily="34" charset="0"/>
                <a:ea typeface="Calibri" pitchFamily="34" charset="-122"/>
                <a:cs typeface="Calibri" pitchFamily="34" charset="-120"/>
              </a:rPr>
              <a:t>AUTONOMOUS SYSTEMS  ·  DATABASE OPERATIONS</a:t>
            </a:r>
            <a:endParaRPr lang="en-US" sz="1300" dirty="0"/>
          </a:p>
        </p:txBody>
      </p:sp>
      <p:sp>
        <p:nvSpPr>
          <p:cNvPr id="4" name="Text 1"/>
          <p:cNvSpPr/>
          <p:nvPr/>
        </p:nvSpPr>
        <p:spPr>
          <a:xfrm>
            <a:off x="640080" y="1463040"/>
            <a:ext cx="7680960" cy="1920240"/>
          </a:xfrm>
          <a:prstGeom prst="rect">
            <a:avLst/>
          </a:prstGeom>
          <a:noFill/>
          <a:ln/>
        </p:spPr>
        <p:txBody>
          <a:bodyPr wrap="square" lIns="0" tIns="0" rIns="0" bIns="0" rtlCol="0" anchor="ctr"/>
          <a:lstStyle/>
          <a:p>
            <a:pPr indent="0" marL="0">
              <a:lnSpc>
                <a:spcPct val="102000"/>
              </a:lnSpc>
              <a:buNone/>
            </a:pPr>
            <a:r>
              <a:rPr lang="en-US" sz="4200" b="1" dirty="0">
                <a:solidFill>
                  <a:srgbClr val="FFFFFF"/>
                </a:solidFill>
                <a:latin typeface="Trebuchet MS" pitchFamily="34" charset="0"/>
                <a:ea typeface="Trebuchet MS" pitchFamily="34" charset="-122"/>
                <a:cs typeface="Trebuchet MS" pitchFamily="34" charset="-120"/>
              </a:rPr>
              <a:t>AI-Powered Autonomous</a:t>
            </a:r>
            <a:endParaRPr lang="en-US" sz="4200" dirty="0"/>
          </a:p>
          <a:p>
            <a:pPr indent="0" marL="0">
              <a:lnSpc>
                <a:spcPct val="102000"/>
              </a:lnSpc>
              <a:buNone/>
            </a:pPr>
            <a:r>
              <a:rPr lang="en-US" sz="4200" b="1" dirty="0">
                <a:solidFill>
                  <a:srgbClr val="FFFFFF"/>
                </a:solidFill>
                <a:latin typeface="Trebuchet MS" pitchFamily="34" charset="0"/>
                <a:ea typeface="Trebuchet MS" pitchFamily="34" charset="-122"/>
                <a:cs typeface="Trebuchet MS" pitchFamily="34" charset="-120"/>
              </a:rPr>
              <a:t>Database Administrator</a:t>
            </a:r>
            <a:endParaRPr lang="en-US" sz="4200" dirty="0"/>
          </a:p>
        </p:txBody>
      </p:sp>
      <p:sp>
        <p:nvSpPr>
          <p:cNvPr id="5" name="Text 2"/>
          <p:cNvSpPr/>
          <p:nvPr/>
        </p:nvSpPr>
        <p:spPr>
          <a:xfrm>
            <a:off x="658368" y="3520440"/>
            <a:ext cx="7040880" cy="914400"/>
          </a:xfrm>
          <a:prstGeom prst="rect">
            <a:avLst/>
          </a:prstGeom>
          <a:noFill/>
          <a:ln/>
        </p:spPr>
        <p:txBody>
          <a:bodyPr wrap="square" lIns="0" tIns="0" rIns="0" bIns="0" rtlCol="0" anchor="ctr"/>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Real-time monitoring, LLM-driven optimization, and safe self-healing for PostgreSQL &amp; MySQL — with human-in-the-loop approval.</a:t>
            </a:r>
            <a:endParaRPr lang="en-US" sz="1600" dirty="0"/>
          </a:p>
        </p:txBody>
      </p:sp>
      <p:sp>
        <p:nvSpPr>
          <p:cNvPr id="6" name="Shape 3"/>
          <p:cNvSpPr/>
          <p:nvPr/>
        </p:nvSpPr>
        <p:spPr>
          <a:xfrm>
            <a:off x="658368" y="4800600"/>
            <a:ext cx="457200" cy="36576"/>
          </a:xfrm>
          <a:prstGeom prst="rect">
            <a:avLst/>
          </a:prstGeom>
          <a:solidFill>
            <a:srgbClr val="06B6D4"/>
          </a:solidFill>
          <a:ln/>
        </p:spPr>
      </p:sp>
      <p:sp>
        <p:nvSpPr>
          <p:cNvPr id="7" name="Text 4"/>
          <p:cNvSpPr/>
          <p:nvPr/>
        </p:nvSpPr>
        <p:spPr>
          <a:xfrm>
            <a:off x="658368" y="4937760"/>
            <a:ext cx="640080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Presented by  </a:t>
            </a:r>
            <a:pPr indent="0" marL="0">
              <a:buNone/>
            </a:pPr>
            <a:r>
              <a:rPr lang="en-US" sz="1600" b="1" dirty="0">
                <a:solidFill>
                  <a:srgbClr val="FFFFFF"/>
                </a:solidFill>
                <a:latin typeface="Calibri" pitchFamily="34" charset="0"/>
                <a:ea typeface="Calibri" pitchFamily="34" charset="-122"/>
                <a:cs typeface="Calibri" pitchFamily="34" charset="-120"/>
              </a:rPr>
              <a:t>Swapneel Kulkarni</a:t>
            </a:r>
            <a:endParaRPr lang="en-US" sz="1600" dirty="0"/>
          </a:p>
        </p:txBody>
      </p:sp>
      <p:pic>
        <p:nvPicPr>
          <p:cNvPr id="8" name="Image 0" descr="images/hero.png">    </p:cNvPr>
          <p:cNvPicPr>
            <a:picLocks noChangeAspect="1"/>
          </p:cNvPicPr>
          <p:nvPr/>
        </p:nvPicPr>
        <p:blipFill>
          <a:blip r:embed="rId2"/>
          <a:stretch>
            <a:fillRect/>
          </a:stretch>
        </p:blipFill>
        <p:spPr>
          <a:xfrm>
            <a:off x="7955280" y="1554480"/>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THE PROBLEM</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Database performance doesn't scale with human DBAs</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
        <p:nvSpPr>
          <p:cNvPr id="7" name="Text 4"/>
          <p:cNvSpPr/>
          <p:nvPr/>
        </p:nvSpPr>
        <p:spPr>
          <a:xfrm>
            <a:off x="548640" y="1600200"/>
            <a:ext cx="7406640" cy="54864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Production databases drift toward trouble faster than teams can react — and every manual fix risks downtime.</a:t>
            </a:r>
            <a:endParaRPr lang="en-US" sz="1500" dirty="0"/>
          </a:p>
        </p:txBody>
      </p:sp>
      <p:sp>
        <p:nvSpPr>
          <p:cNvPr id="8" name="Shape 5"/>
          <p:cNvSpPr/>
          <p:nvPr/>
        </p:nvSpPr>
        <p:spPr>
          <a:xfrm>
            <a:off x="548640" y="2286000"/>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9" name="Shape 6"/>
          <p:cNvSpPr/>
          <p:nvPr/>
        </p:nvSpPr>
        <p:spPr>
          <a:xfrm>
            <a:off x="548640" y="2286000"/>
            <a:ext cx="64008" cy="1078992"/>
          </a:xfrm>
          <a:prstGeom prst="rect">
            <a:avLst/>
          </a:prstGeom>
          <a:solidFill>
            <a:srgbClr val="2563EB"/>
          </a:solidFill>
          <a:ln/>
        </p:spPr>
      </p:sp>
      <p:sp>
        <p:nvSpPr>
          <p:cNvPr id="10" name="Shape 7"/>
          <p:cNvSpPr/>
          <p:nvPr/>
        </p:nvSpPr>
        <p:spPr>
          <a:xfrm>
            <a:off x="749808" y="2542032"/>
            <a:ext cx="566928" cy="566928"/>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11" name="Image 0" descr="images/icons/search.png">    </p:cNvPr>
          <p:cNvPicPr>
            <a:picLocks noChangeAspect="1"/>
          </p:cNvPicPr>
          <p:nvPr/>
        </p:nvPicPr>
        <p:blipFill>
          <a:blip r:embed="rId1"/>
          <a:stretch>
            <a:fillRect/>
          </a:stretch>
        </p:blipFill>
        <p:spPr>
          <a:xfrm>
            <a:off x="885871" y="2678095"/>
            <a:ext cx="294803" cy="294803"/>
          </a:xfrm>
          <a:prstGeom prst="rect">
            <a:avLst/>
          </a:prstGeom>
        </p:spPr>
      </p:pic>
      <p:sp>
        <p:nvSpPr>
          <p:cNvPr id="12" name="Text 8"/>
          <p:cNvSpPr/>
          <p:nvPr/>
        </p:nvSpPr>
        <p:spPr>
          <a:xfrm>
            <a:off x="1463040" y="2450592"/>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Slow queries</a:t>
            </a:r>
            <a:endParaRPr lang="en-US" sz="1500" dirty="0"/>
          </a:p>
        </p:txBody>
      </p:sp>
      <p:sp>
        <p:nvSpPr>
          <p:cNvPr id="13" name="Text 9"/>
          <p:cNvSpPr/>
          <p:nvPr/>
        </p:nvSpPr>
        <p:spPr>
          <a:xfrm>
            <a:off x="1463040" y="2816352"/>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Seq scans &amp; N+1 patterns degrade latency</a:t>
            </a:r>
            <a:endParaRPr lang="en-US" sz="1200" dirty="0"/>
          </a:p>
        </p:txBody>
      </p:sp>
      <p:sp>
        <p:nvSpPr>
          <p:cNvPr id="14" name="Shape 10"/>
          <p:cNvSpPr/>
          <p:nvPr/>
        </p:nvSpPr>
        <p:spPr>
          <a:xfrm>
            <a:off x="4370832" y="2286000"/>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5" name="Shape 11"/>
          <p:cNvSpPr/>
          <p:nvPr/>
        </p:nvSpPr>
        <p:spPr>
          <a:xfrm>
            <a:off x="4370832" y="2286000"/>
            <a:ext cx="64008" cy="1078992"/>
          </a:xfrm>
          <a:prstGeom prst="rect">
            <a:avLst/>
          </a:prstGeom>
          <a:solidFill>
            <a:srgbClr val="7C3AED"/>
          </a:solidFill>
          <a:ln/>
        </p:spPr>
      </p:sp>
      <p:sp>
        <p:nvSpPr>
          <p:cNvPr id="16" name="Shape 12"/>
          <p:cNvSpPr/>
          <p:nvPr/>
        </p:nvSpPr>
        <p:spPr>
          <a:xfrm>
            <a:off x="4572000" y="2542032"/>
            <a:ext cx="566928" cy="566928"/>
          </a:xfrm>
          <a:prstGeom prst="ellipse">
            <a:avLst/>
          </a:prstGeom>
          <a:solidFill>
            <a:srgbClr val="7C3AED"/>
          </a:solidFill>
          <a:ln/>
          <a:effectLst>
            <a:outerShdw sx="100000" sy="100000" kx="0" ky="0" algn="bl" rotWithShape="0" blurRad="114300" dist="38100" dir="5400000">
              <a:srgbClr val="94A3B8">
                <a:alpha val="28000"/>
              </a:srgbClr>
            </a:outerShdw>
          </a:effectLst>
        </p:spPr>
      </p:sp>
      <p:pic>
        <p:nvPicPr>
          <p:cNvPr id="17" name="Image 1" descr="images/icons/key.png">    </p:cNvPr>
          <p:cNvPicPr>
            <a:picLocks noChangeAspect="1"/>
          </p:cNvPicPr>
          <p:nvPr/>
        </p:nvPicPr>
        <p:blipFill>
          <a:blip r:embed="rId2"/>
          <a:stretch>
            <a:fillRect/>
          </a:stretch>
        </p:blipFill>
        <p:spPr>
          <a:xfrm>
            <a:off x="4708063" y="2678095"/>
            <a:ext cx="294803" cy="294803"/>
          </a:xfrm>
          <a:prstGeom prst="rect">
            <a:avLst/>
          </a:prstGeom>
        </p:spPr>
      </p:pic>
      <p:sp>
        <p:nvSpPr>
          <p:cNvPr id="18" name="Text 13"/>
          <p:cNvSpPr/>
          <p:nvPr/>
        </p:nvSpPr>
        <p:spPr>
          <a:xfrm>
            <a:off x="5285232" y="2450592"/>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Missing / redundant indexes</a:t>
            </a:r>
            <a:endParaRPr lang="en-US" sz="1500" dirty="0"/>
          </a:p>
        </p:txBody>
      </p:sp>
      <p:sp>
        <p:nvSpPr>
          <p:cNvPr id="19" name="Text 14"/>
          <p:cNvSpPr/>
          <p:nvPr/>
        </p:nvSpPr>
        <p:spPr>
          <a:xfrm>
            <a:off x="5285232" y="2816352"/>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Wrong indexes hurt reads and writes</a:t>
            </a:r>
            <a:endParaRPr lang="en-US" sz="1200" dirty="0"/>
          </a:p>
        </p:txBody>
      </p:sp>
      <p:sp>
        <p:nvSpPr>
          <p:cNvPr id="20" name="Shape 15"/>
          <p:cNvSpPr/>
          <p:nvPr/>
        </p:nvSpPr>
        <p:spPr>
          <a:xfrm>
            <a:off x="8193024" y="2286000"/>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1" name="Shape 16"/>
          <p:cNvSpPr/>
          <p:nvPr/>
        </p:nvSpPr>
        <p:spPr>
          <a:xfrm>
            <a:off x="8193024" y="2286000"/>
            <a:ext cx="64008" cy="1078992"/>
          </a:xfrm>
          <a:prstGeom prst="rect">
            <a:avLst/>
          </a:prstGeom>
          <a:solidFill>
            <a:srgbClr val="0D9488"/>
          </a:solidFill>
          <a:ln/>
        </p:spPr>
      </p:sp>
      <p:sp>
        <p:nvSpPr>
          <p:cNvPr id="22" name="Shape 17"/>
          <p:cNvSpPr/>
          <p:nvPr/>
        </p:nvSpPr>
        <p:spPr>
          <a:xfrm>
            <a:off x="8394192" y="2542032"/>
            <a:ext cx="566928" cy="566928"/>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23" name="Image 2" descr="images/icons/db.png">    </p:cNvPr>
          <p:cNvPicPr>
            <a:picLocks noChangeAspect="1"/>
          </p:cNvPicPr>
          <p:nvPr/>
        </p:nvPicPr>
        <p:blipFill>
          <a:blip r:embed="rId3"/>
          <a:stretch>
            <a:fillRect/>
          </a:stretch>
        </p:blipFill>
        <p:spPr>
          <a:xfrm>
            <a:off x="8530255" y="2678095"/>
            <a:ext cx="294803" cy="294803"/>
          </a:xfrm>
          <a:prstGeom prst="rect">
            <a:avLst/>
          </a:prstGeom>
        </p:spPr>
      </p:pic>
      <p:sp>
        <p:nvSpPr>
          <p:cNvPr id="24" name="Text 18"/>
          <p:cNvSpPr/>
          <p:nvPr/>
        </p:nvSpPr>
        <p:spPr>
          <a:xfrm>
            <a:off x="9107424" y="2450592"/>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Table bloat</a:t>
            </a:r>
            <a:endParaRPr lang="en-US" sz="1500" dirty="0"/>
          </a:p>
        </p:txBody>
      </p:sp>
      <p:sp>
        <p:nvSpPr>
          <p:cNvPr id="25" name="Text 19"/>
          <p:cNvSpPr/>
          <p:nvPr/>
        </p:nvSpPr>
        <p:spPr>
          <a:xfrm>
            <a:off x="9107424" y="2816352"/>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Dead tuples inflate storage &amp; scans</a:t>
            </a:r>
            <a:endParaRPr lang="en-US" sz="1200" dirty="0"/>
          </a:p>
        </p:txBody>
      </p:sp>
      <p:sp>
        <p:nvSpPr>
          <p:cNvPr id="26" name="Shape 20"/>
          <p:cNvSpPr/>
          <p:nvPr/>
        </p:nvSpPr>
        <p:spPr>
          <a:xfrm>
            <a:off x="548640" y="3511296"/>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7" name="Shape 21"/>
          <p:cNvSpPr/>
          <p:nvPr/>
        </p:nvSpPr>
        <p:spPr>
          <a:xfrm>
            <a:off x="548640" y="3511296"/>
            <a:ext cx="64008" cy="1078992"/>
          </a:xfrm>
          <a:prstGeom prst="rect">
            <a:avLst/>
          </a:prstGeom>
          <a:solidFill>
            <a:srgbClr val="F59E0B"/>
          </a:solidFill>
          <a:ln/>
        </p:spPr>
      </p:sp>
      <p:sp>
        <p:nvSpPr>
          <p:cNvPr id="28" name="Shape 22"/>
          <p:cNvSpPr/>
          <p:nvPr/>
        </p:nvSpPr>
        <p:spPr>
          <a:xfrm>
            <a:off x="749808" y="3767328"/>
            <a:ext cx="566928" cy="566928"/>
          </a:xfrm>
          <a:prstGeom prst="ellipse">
            <a:avLst/>
          </a:prstGeom>
          <a:solidFill>
            <a:srgbClr val="F59E0B"/>
          </a:solidFill>
          <a:ln/>
          <a:effectLst>
            <a:outerShdw sx="100000" sy="100000" kx="0" ky="0" algn="bl" rotWithShape="0" blurRad="114300" dist="38100" dir="5400000">
              <a:srgbClr val="94A3B8">
                <a:alpha val="28000"/>
              </a:srgbClr>
            </a:outerShdw>
          </a:effectLst>
        </p:spPr>
      </p:sp>
      <p:pic>
        <p:nvPicPr>
          <p:cNvPr id="29" name="Image 3" descr="images/icons/lock.png">    </p:cNvPr>
          <p:cNvPicPr>
            <a:picLocks noChangeAspect="1"/>
          </p:cNvPicPr>
          <p:nvPr/>
        </p:nvPicPr>
        <p:blipFill>
          <a:blip r:embed="rId4"/>
          <a:stretch>
            <a:fillRect/>
          </a:stretch>
        </p:blipFill>
        <p:spPr>
          <a:xfrm>
            <a:off x="885871" y="3903391"/>
            <a:ext cx="294803" cy="294803"/>
          </a:xfrm>
          <a:prstGeom prst="rect">
            <a:avLst/>
          </a:prstGeom>
        </p:spPr>
      </p:pic>
      <p:sp>
        <p:nvSpPr>
          <p:cNvPr id="30" name="Text 23"/>
          <p:cNvSpPr/>
          <p:nvPr/>
        </p:nvSpPr>
        <p:spPr>
          <a:xfrm>
            <a:off x="1463040" y="3675888"/>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Lock contention</a:t>
            </a:r>
            <a:endParaRPr lang="en-US" sz="1500" dirty="0"/>
          </a:p>
        </p:txBody>
      </p:sp>
      <p:sp>
        <p:nvSpPr>
          <p:cNvPr id="31" name="Text 24"/>
          <p:cNvSpPr/>
          <p:nvPr/>
        </p:nvSpPr>
        <p:spPr>
          <a:xfrm>
            <a:off x="1463040" y="4041648"/>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Hot rows stall concurrent transactions</a:t>
            </a:r>
            <a:endParaRPr lang="en-US" sz="1200" dirty="0"/>
          </a:p>
        </p:txBody>
      </p:sp>
      <p:sp>
        <p:nvSpPr>
          <p:cNvPr id="32" name="Shape 25"/>
          <p:cNvSpPr/>
          <p:nvPr/>
        </p:nvSpPr>
        <p:spPr>
          <a:xfrm>
            <a:off x="4370832" y="3511296"/>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3" name="Shape 26"/>
          <p:cNvSpPr/>
          <p:nvPr/>
        </p:nvSpPr>
        <p:spPr>
          <a:xfrm>
            <a:off x="4370832" y="3511296"/>
            <a:ext cx="64008" cy="1078992"/>
          </a:xfrm>
          <a:prstGeom prst="rect">
            <a:avLst/>
          </a:prstGeom>
          <a:solidFill>
            <a:srgbClr val="EF4444"/>
          </a:solidFill>
          <a:ln/>
        </p:spPr>
      </p:sp>
      <p:sp>
        <p:nvSpPr>
          <p:cNvPr id="34" name="Shape 27"/>
          <p:cNvSpPr/>
          <p:nvPr/>
        </p:nvSpPr>
        <p:spPr>
          <a:xfrm>
            <a:off x="4572000" y="3767328"/>
            <a:ext cx="566928" cy="566928"/>
          </a:xfrm>
          <a:prstGeom prst="ellipse">
            <a:avLst/>
          </a:prstGeom>
          <a:solidFill>
            <a:srgbClr val="EF4444"/>
          </a:solidFill>
          <a:ln/>
          <a:effectLst>
            <a:outerShdw sx="100000" sy="100000" kx="0" ky="0" algn="bl" rotWithShape="0" blurRad="114300" dist="38100" dir="5400000">
              <a:srgbClr val="94A3B8">
                <a:alpha val="28000"/>
              </a:srgbClr>
            </a:outerShdw>
          </a:effectLst>
        </p:spPr>
      </p:sp>
      <p:pic>
        <p:nvPicPr>
          <p:cNvPr id="35" name="Image 4" descr="images/icons/server.png">    </p:cNvPr>
          <p:cNvPicPr>
            <a:picLocks noChangeAspect="1"/>
          </p:cNvPicPr>
          <p:nvPr/>
        </p:nvPicPr>
        <p:blipFill>
          <a:blip r:embed="rId5"/>
          <a:stretch>
            <a:fillRect/>
          </a:stretch>
        </p:blipFill>
        <p:spPr>
          <a:xfrm>
            <a:off x="4708063" y="3903391"/>
            <a:ext cx="294803" cy="294803"/>
          </a:xfrm>
          <a:prstGeom prst="rect">
            <a:avLst/>
          </a:prstGeom>
        </p:spPr>
      </p:pic>
      <p:sp>
        <p:nvSpPr>
          <p:cNvPr id="36" name="Text 28"/>
          <p:cNvSpPr/>
          <p:nvPr/>
        </p:nvSpPr>
        <p:spPr>
          <a:xfrm>
            <a:off x="5285232" y="3675888"/>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Connection exhaustion</a:t>
            </a:r>
            <a:endParaRPr lang="en-US" sz="1500" dirty="0"/>
          </a:p>
        </p:txBody>
      </p:sp>
      <p:sp>
        <p:nvSpPr>
          <p:cNvPr id="37" name="Text 29"/>
          <p:cNvSpPr/>
          <p:nvPr/>
        </p:nvSpPr>
        <p:spPr>
          <a:xfrm>
            <a:off x="5285232" y="4041648"/>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Pools saturate under load spikes</a:t>
            </a:r>
            <a:endParaRPr lang="en-US" sz="1200" dirty="0"/>
          </a:p>
        </p:txBody>
      </p:sp>
      <p:sp>
        <p:nvSpPr>
          <p:cNvPr id="38" name="Shape 30"/>
          <p:cNvSpPr/>
          <p:nvPr/>
        </p:nvSpPr>
        <p:spPr>
          <a:xfrm>
            <a:off x="8193024" y="3511296"/>
            <a:ext cx="3657600" cy="107899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9" name="Shape 31"/>
          <p:cNvSpPr/>
          <p:nvPr/>
        </p:nvSpPr>
        <p:spPr>
          <a:xfrm>
            <a:off x="8193024" y="3511296"/>
            <a:ext cx="64008" cy="1078992"/>
          </a:xfrm>
          <a:prstGeom prst="rect">
            <a:avLst/>
          </a:prstGeom>
          <a:solidFill>
            <a:srgbClr val="06B6D4"/>
          </a:solidFill>
          <a:ln/>
        </p:spPr>
      </p:sp>
      <p:sp>
        <p:nvSpPr>
          <p:cNvPr id="40" name="Shape 32"/>
          <p:cNvSpPr/>
          <p:nvPr/>
        </p:nvSpPr>
        <p:spPr>
          <a:xfrm>
            <a:off x="8394192" y="3767328"/>
            <a:ext cx="566928" cy="566928"/>
          </a:xfrm>
          <a:prstGeom prst="ellipse">
            <a:avLst/>
          </a:prstGeom>
          <a:solidFill>
            <a:srgbClr val="06B6D4"/>
          </a:solidFill>
          <a:ln/>
          <a:effectLst>
            <a:outerShdw sx="100000" sy="100000" kx="0" ky="0" algn="bl" rotWithShape="0" blurRad="114300" dist="38100" dir="5400000">
              <a:srgbClr val="94A3B8">
                <a:alpha val="28000"/>
              </a:srgbClr>
            </a:outerShdw>
          </a:effectLst>
        </p:spPr>
      </p:sp>
      <p:pic>
        <p:nvPicPr>
          <p:cNvPr id="41" name="Image 5" descr="images/icons/sync.png">    </p:cNvPr>
          <p:cNvPicPr>
            <a:picLocks noChangeAspect="1"/>
          </p:cNvPicPr>
          <p:nvPr/>
        </p:nvPicPr>
        <p:blipFill>
          <a:blip r:embed="rId6"/>
          <a:stretch>
            <a:fillRect/>
          </a:stretch>
        </p:blipFill>
        <p:spPr>
          <a:xfrm>
            <a:off x="8530255" y="3903391"/>
            <a:ext cx="294803" cy="294803"/>
          </a:xfrm>
          <a:prstGeom prst="rect">
            <a:avLst/>
          </a:prstGeom>
        </p:spPr>
      </p:pic>
      <p:sp>
        <p:nvSpPr>
          <p:cNvPr id="42" name="Text 33"/>
          <p:cNvSpPr/>
          <p:nvPr/>
        </p:nvSpPr>
        <p:spPr>
          <a:xfrm>
            <a:off x="9107424" y="3675888"/>
            <a:ext cx="2651760" cy="36576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Replication lag</a:t>
            </a:r>
            <a:endParaRPr lang="en-US" sz="1500" dirty="0"/>
          </a:p>
        </p:txBody>
      </p:sp>
      <p:sp>
        <p:nvSpPr>
          <p:cNvPr id="43" name="Text 34"/>
          <p:cNvSpPr/>
          <p:nvPr/>
        </p:nvSpPr>
        <p:spPr>
          <a:xfrm>
            <a:off x="9107424" y="4041648"/>
            <a:ext cx="265176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Replicas fall behind, risking staleness</a:t>
            </a:r>
            <a:endParaRPr lang="en-US" sz="1200" dirty="0"/>
          </a:p>
        </p:txBody>
      </p:sp>
      <p:sp>
        <p:nvSpPr>
          <p:cNvPr id="44" name="Shape 35"/>
          <p:cNvSpPr/>
          <p:nvPr/>
        </p:nvSpPr>
        <p:spPr>
          <a:xfrm>
            <a:off x="548640" y="5897880"/>
            <a:ext cx="11091672" cy="384048"/>
          </a:xfrm>
          <a:prstGeom prst="rect">
            <a:avLst/>
          </a:prstGeom>
          <a:solidFill>
            <a:srgbClr val="0F172A"/>
          </a:solidFill>
          <a:ln/>
        </p:spPr>
      </p:sp>
      <p:sp>
        <p:nvSpPr>
          <p:cNvPr id="45" name="Text 36"/>
          <p:cNvSpPr/>
          <p:nvPr/>
        </p:nvSpPr>
        <p:spPr>
          <a:xfrm>
            <a:off x="548640" y="5897880"/>
            <a:ext cx="11091672" cy="384048"/>
          </a:xfrm>
          <a:prstGeom prst="rect">
            <a:avLst/>
          </a:prstGeom>
          <a:noFill/>
          <a:ln/>
        </p:spPr>
        <p:txBody>
          <a:bodyPr wrap="square" lIns="0" tIns="0" rIns="0" bIns="0" rtlCol="0" anchor="ctr"/>
          <a:lstStyle/>
          <a:p>
            <a:pPr algn="ctr" indent="0" marL="0">
              <a:buNone/>
            </a:pPr>
            <a:r>
              <a:rPr lang="en-US" sz="1300" b="1" dirty="0">
                <a:solidFill>
                  <a:srgbClr val="67E8F9"/>
                </a:solidFill>
                <a:latin typeface="Calibri" pitchFamily="34" charset="0"/>
                <a:ea typeface="Calibri" pitchFamily="34" charset="-122"/>
                <a:cs typeface="Calibri" pitchFamily="34" charset="-120"/>
              </a:rPr>
              <a:t>Must hold to: </a:t>
            </a:r>
            <a:pPr algn="ctr" indent="0" marL="0">
              <a:buNone/>
            </a:pPr>
            <a:r>
              <a:rPr lang="en-US" sz="1300" dirty="0">
                <a:solidFill>
                  <a:srgbClr val="FFFFFF"/>
                </a:solidFill>
                <a:latin typeface="Calibri" pitchFamily="34" charset="0"/>
                <a:ea typeface="Calibri" pitchFamily="34" charset="-122"/>
                <a:cs typeface="Calibri" pitchFamily="34" charset="-120"/>
              </a:rPr>
              <a:t>100M+ rows   ·   1000+ queries/min   ·   &lt; 2% monitoring overhead   ·   PostgreSQL 14+ &amp; MySQL 8.0+</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APPROACH · CORE ARCHITECTURE</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A closed-loop optimization pipeline</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pic>
        <p:nvPicPr>
          <p:cNvPr id="7" name="Image 0" descr="images/arch_diagram.png">    </p:cNvPr>
          <p:cNvPicPr>
            <a:picLocks noChangeAspect="1"/>
          </p:cNvPicPr>
          <p:nvPr/>
        </p:nvPicPr>
        <p:blipFill>
          <a:blip r:embed="rId1"/>
          <a:srcRect l="0" r="0" t="0" b="0"/>
          <a:stretch/>
        </p:blipFill>
        <p:spPr>
          <a:xfrm>
            <a:off x="502920" y="1627632"/>
            <a:ext cx="11155680" cy="4526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TECH STACK</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Production-grade and fully containerized</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
        <p:nvSpPr>
          <p:cNvPr id="7" name="Shape 4"/>
          <p:cNvSpPr/>
          <p:nvPr/>
        </p:nvSpPr>
        <p:spPr>
          <a:xfrm>
            <a:off x="548640" y="1783080"/>
            <a:ext cx="2688336" cy="41605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8" name="Shape 5"/>
          <p:cNvSpPr/>
          <p:nvPr/>
        </p:nvSpPr>
        <p:spPr>
          <a:xfrm>
            <a:off x="548640" y="1783080"/>
            <a:ext cx="64008" cy="4160520"/>
          </a:xfrm>
          <a:prstGeom prst="rect">
            <a:avLst/>
          </a:prstGeom>
          <a:solidFill>
            <a:srgbClr val="0D9488"/>
          </a:solidFill>
          <a:ln/>
        </p:spPr>
      </p:sp>
      <p:sp>
        <p:nvSpPr>
          <p:cNvPr id="9" name="Shape 6"/>
          <p:cNvSpPr/>
          <p:nvPr/>
        </p:nvSpPr>
        <p:spPr>
          <a:xfrm>
            <a:off x="612648" y="1783080"/>
            <a:ext cx="2624328" cy="566928"/>
          </a:xfrm>
          <a:prstGeom prst="rect">
            <a:avLst/>
          </a:prstGeom>
          <a:solidFill>
            <a:srgbClr val="0D9488"/>
          </a:solidFill>
          <a:ln/>
        </p:spPr>
      </p:sp>
      <p:sp>
        <p:nvSpPr>
          <p:cNvPr id="10" name="Text 7"/>
          <p:cNvSpPr/>
          <p:nvPr/>
        </p:nvSpPr>
        <p:spPr>
          <a:xfrm>
            <a:off x="731520" y="1783080"/>
            <a:ext cx="2414016" cy="56692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Backend</a:t>
            </a:r>
            <a:endParaRPr lang="en-US" sz="1600" dirty="0"/>
          </a:p>
        </p:txBody>
      </p:sp>
      <p:sp>
        <p:nvSpPr>
          <p:cNvPr id="11" name="Shape 8"/>
          <p:cNvSpPr/>
          <p:nvPr/>
        </p:nvSpPr>
        <p:spPr>
          <a:xfrm>
            <a:off x="768096" y="2624328"/>
            <a:ext cx="109728" cy="109728"/>
          </a:xfrm>
          <a:prstGeom prst="ellipse">
            <a:avLst/>
          </a:prstGeom>
          <a:solidFill>
            <a:srgbClr val="0D9488"/>
          </a:solidFill>
          <a:ln/>
        </p:spPr>
      </p:sp>
      <p:sp>
        <p:nvSpPr>
          <p:cNvPr id="12" name="Text 9"/>
          <p:cNvSpPr/>
          <p:nvPr/>
        </p:nvSpPr>
        <p:spPr>
          <a:xfrm>
            <a:off x="1005840" y="25146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Python 3.11 · asyncio</a:t>
            </a:r>
            <a:endParaRPr lang="en-US" sz="1250" dirty="0"/>
          </a:p>
        </p:txBody>
      </p:sp>
      <p:sp>
        <p:nvSpPr>
          <p:cNvPr id="13" name="Shape 10"/>
          <p:cNvSpPr/>
          <p:nvPr/>
        </p:nvSpPr>
        <p:spPr>
          <a:xfrm>
            <a:off x="768096" y="3172968"/>
            <a:ext cx="109728" cy="109728"/>
          </a:xfrm>
          <a:prstGeom prst="ellipse">
            <a:avLst/>
          </a:prstGeom>
          <a:solidFill>
            <a:srgbClr val="0D9488"/>
          </a:solidFill>
          <a:ln/>
        </p:spPr>
      </p:sp>
      <p:sp>
        <p:nvSpPr>
          <p:cNvPr id="14" name="Text 11"/>
          <p:cNvSpPr/>
          <p:nvPr/>
        </p:nvSpPr>
        <p:spPr>
          <a:xfrm>
            <a:off x="1005840" y="306324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FastAPI</a:t>
            </a:r>
            <a:endParaRPr lang="en-US" sz="1250" dirty="0"/>
          </a:p>
        </p:txBody>
      </p:sp>
      <p:sp>
        <p:nvSpPr>
          <p:cNvPr id="15" name="Shape 12"/>
          <p:cNvSpPr/>
          <p:nvPr/>
        </p:nvSpPr>
        <p:spPr>
          <a:xfrm>
            <a:off x="768096" y="3721608"/>
            <a:ext cx="109728" cy="109728"/>
          </a:xfrm>
          <a:prstGeom prst="ellipse">
            <a:avLst/>
          </a:prstGeom>
          <a:solidFill>
            <a:srgbClr val="0D9488"/>
          </a:solidFill>
          <a:ln/>
        </p:spPr>
      </p:sp>
      <p:sp>
        <p:nvSpPr>
          <p:cNvPr id="16" name="Text 13"/>
          <p:cNvSpPr/>
          <p:nvPr/>
        </p:nvSpPr>
        <p:spPr>
          <a:xfrm>
            <a:off x="1005840" y="361188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asyncpg / aiomysql</a:t>
            </a:r>
            <a:endParaRPr lang="en-US" sz="1250" dirty="0"/>
          </a:p>
        </p:txBody>
      </p:sp>
      <p:sp>
        <p:nvSpPr>
          <p:cNvPr id="17" name="Shape 14"/>
          <p:cNvSpPr/>
          <p:nvPr/>
        </p:nvSpPr>
        <p:spPr>
          <a:xfrm>
            <a:off x="768096" y="4270248"/>
            <a:ext cx="109728" cy="109728"/>
          </a:xfrm>
          <a:prstGeom prst="ellipse">
            <a:avLst/>
          </a:prstGeom>
          <a:solidFill>
            <a:srgbClr val="0D9488"/>
          </a:solidFill>
          <a:ln/>
        </p:spPr>
      </p:sp>
      <p:sp>
        <p:nvSpPr>
          <p:cNvPr id="18" name="Text 15"/>
          <p:cNvSpPr/>
          <p:nvPr/>
        </p:nvSpPr>
        <p:spPr>
          <a:xfrm>
            <a:off x="1005840" y="416052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XGBoost classifier</a:t>
            </a:r>
            <a:endParaRPr lang="en-US" sz="1250" dirty="0"/>
          </a:p>
        </p:txBody>
      </p:sp>
      <p:sp>
        <p:nvSpPr>
          <p:cNvPr id="19" name="Shape 16"/>
          <p:cNvSpPr/>
          <p:nvPr/>
        </p:nvSpPr>
        <p:spPr>
          <a:xfrm>
            <a:off x="768096" y="4818888"/>
            <a:ext cx="109728" cy="109728"/>
          </a:xfrm>
          <a:prstGeom prst="ellipse">
            <a:avLst/>
          </a:prstGeom>
          <a:solidFill>
            <a:srgbClr val="0D9488"/>
          </a:solidFill>
          <a:ln/>
        </p:spPr>
      </p:sp>
      <p:sp>
        <p:nvSpPr>
          <p:cNvPr id="20" name="Text 17"/>
          <p:cNvSpPr/>
          <p:nvPr/>
        </p:nvSpPr>
        <p:spPr>
          <a:xfrm>
            <a:off x="1005840" y="470916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Prophet forecasting</a:t>
            </a:r>
            <a:endParaRPr lang="en-US" sz="1250" dirty="0"/>
          </a:p>
        </p:txBody>
      </p:sp>
      <p:sp>
        <p:nvSpPr>
          <p:cNvPr id="21" name="Shape 18"/>
          <p:cNvSpPr/>
          <p:nvPr/>
        </p:nvSpPr>
        <p:spPr>
          <a:xfrm>
            <a:off x="768096" y="5367528"/>
            <a:ext cx="109728" cy="109728"/>
          </a:xfrm>
          <a:prstGeom prst="ellipse">
            <a:avLst/>
          </a:prstGeom>
          <a:solidFill>
            <a:srgbClr val="0D9488"/>
          </a:solidFill>
          <a:ln/>
        </p:spPr>
      </p:sp>
      <p:sp>
        <p:nvSpPr>
          <p:cNvPr id="22" name="Text 19"/>
          <p:cNvSpPr/>
          <p:nvPr/>
        </p:nvSpPr>
        <p:spPr>
          <a:xfrm>
            <a:off x="1005840" y="52578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transitions state machine</a:t>
            </a:r>
            <a:endParaRPr lang="en-US" sz="1250" dirty="0"/>
          </a:p>
        </p:txBody>
      </p:sp>
      <p:sp>
        <p:nvSpPr>
          <p:cNvPr id="23" name="Shape 20"/>
          <p:cNvSpPr/>
          <p:nvPr/>
        </p:nvSpPr>
        <p:spPr>
          <a:xfrm>
            <a:off x="3355848" y="1783080"/>
            <a:ext cx="2688336" cy="41605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4" name="Shape 21"/>
          <p:cNvSpPr/>
          <p:nvPr/>
        </p:nvSpPr>
        <p:spPr>
          <a:xfrm>
            <a:off x="3355848" y="1783080"/>
            <a:ext cx="64008" cy="4160520"/>
          </a:xfrm>
          <a:prstGeom prst="rect">
            <a:avLst/>
          </a:prstGeom>
          <a:solidFill>
            <a:srgbClr val="2563EB"/>
          </a:solidFill>
          <a:ln/>
        </p:spPr>
      </p:sp>
      <p:sp>
        <p:nvSpPr>
          <p:cNvPr id="25" name="Shape 22"/>
          <p:cNvSpPr/>
          <p:nvPr/>
        </p:nvSpPr>
        <p:spPr>
          <a:xfrm>
            <a:off x="3419856" y="1783080"/>
            <a:ext cx="2624328" cy="566928"/>
          </a:xfrm>
          <a:prstGeom prst="rect">
            <a:avLst/>
          </a:prstGeom>
          <a:solidFill>
            <a:srgbClr val="2563EB"/>
          </a:solidFill>
          <a:ln/>
        </p:spPr>
      </p:sp>
      <p:sp>
        <p:nvSpPr>
          <p:cNvPr id="26" name="Text 23"/>
          <p:cNvSpPr/>
          <p:nvPr/>
        </p:nvSpPr>
        <p:spPr>
          <a:xfrm>
            <a:off x="3538728" y="1783080"/>
            <a:ext cx="2414016" cy="56692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Frontend</a:t>
            </a:r>
            <a:endParaRPr lang="en-US" sz="1600" dirty="0"/>
          </a:p>
        </p:txBody>
      </p:sp>
      <p:sp>
        <p:nvSpPr>
          <p:cNvPr id="27" name="Shape 24"/>
          <p:cNvSpPr/>
          <p:nvPr/>
        </p:nvSpPr>
        <p:spPr>
          <a:xfrm>
            <a:off x="3575304" y="2624328"/>
            <a:ext cx="109728" cy="109728"/>
          </a:xfrm>
          <a:prstGeom prst="ellipse">
            <a:avLst/>
          </a:prstGeom>
          <a:solidFill>
            <a:srgbClr val="2563EB"/>
          </a:solidFill>
          <a:ln/>
        </p:spPr>
      </p:sp>
      <p:sp>
        <p:nvSpPr>
          <p:cNvPr id="28" name="Text 25"/>
          <p:cNvSpPr/>
          <p:nvPr/>
        </p:nvSpPr>
        <p:spPr>
          <a:xfrm>
            <a:off x="3813048" y="25146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React 18</a:t>
            </a:r>
            <a:endParaRPr lang="en-US" sz="1250" dirty="0"/>
          </a:p>
        </p:txBody>
      </p:sp>
      <p:sp>
        <p:nvSpPr>
          <p:cNvPr id="29" name="Shape 26"/>
          <p:cNvSpPr/>
          <p:nvPr/>
        </p:nvSpPr>
        <p:spPr>
          <a:xfrm>
            <a:off x="3575304" y="3172968"/>
            <a:ext cx="109728" cy="109728"/>
          </a:xfrm>
          <a:prstGeom prst="ellipse">
            <a:avLst/>
          </a:prstGeom>
          <a:solidFill>
            <a:srgbClr val="2563EB"/>
          </a:solidFill>
          <a:ln/>
        </p:spPr>
      </p:sp>
      <p:sp>
        <p:nvSpPr>
          <p:cNvPr id="30" name="Text 27"/>
          <p:cNvSpPr/>
          <p:nvPr/>
        </p:nvSpPr>
        <p:spPr>
          <a:xfrm>
            <a:off x="3813048" y="306324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TypeScript</a:t>
            </a:r>
            <a:endParaRPr lang="en-US" sz="1250" dirty="0"/>
          </a:p>
        </p:txBody>
      </p:sp>
      <p:sp>
        <p:nvSpPr>
          <p:cNvPr id="31" name="Shape 28"/>
          <p:cNvSpPr/>
          <p:nvPr/>
        </p:nvSpPr>
        <p:spPr>
          <a:xfrm>
            <a:off x="3575304" y="3721608"/>
            <a:ext cx="109728" cy="109728"/>
          </a:xfrm>
          <a:prstGeom prst="ellipse">
            <a:avLst/>
          </a:prstGeom>
          <a:solidFill>
            <a:srgbClr val="2563EB"/>
          </a:solidFill>
          <a:ln/>
        </p:spPr>
      </p:sp>
      <p:sp>
        <p:nvSpPr>
          <p:cNvPr id="32" name="Text 29"/>
          <p:cNvSpPr/>
          <p:nvPr/>
        </p:nvSpPr>
        <p:spPr>
          <a:xfrm>
            <a:off x="3813048" y="361188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Vite</a:t>
            </a:r>
            <a:endParaRPr lang="en-US" sz="1250" dirty="0"/>
          </a:p>
        </p:txBody>
      </p:sp>
      <p:sp>
        <p:nvSpPr>
          <p:cNvPr id="33" name="Shape 30"/>
          <p:cNvSpPr/>
          <p:nvPr/>
        </p:nvSpPr>
        <p:spPr>
          <a:xfrm>
            <a:off x="3575304" y="4270248"/>
            <a:ext cx="109728" cy="109728"/>
          </a:xfrm>
          <a:prstGeom prst="ellipse">
            <a:avLst/>
          </a:prstGeom>
          <a:solidFill>
            <a:srgbClr val="2563EB"/>
          </a:solidFill>
          <a:ln/>
        </p:spPr>
      </p:sp>
      <p:sp>
        <p:nvSpPr>
          <p:cNvPr id="34" name="Text 31"/>
          <p:cNvSpPr/>
          <p:nvPr/>
        </p:nvSpPr>
        <p:spPr>
          <a:xfrm>
            <a:off x="3813048" y="416052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Recharts</a:t>
            </a:r>
            <a:endParaRPr lang="en-US" sz="1250" dirty="0"/>
          </a:p>
        </p:txBody>
      </p:sp>
      <p:sp>
        <p:nvSpPr>
          <p:cNvPr id="35" name="Shape 32"/>
          <p:cNvSpPr/>
          <p:nvPr/>
        </p:nvSpPr>
        <p:spPr>
          <a:xfrm>
            <a:off x="3575304" y="4818888"/>
            <a:ext cx="109728" cy="109728"/>
          </a:xfrm>
          <a:prstGeom prst="ellipse">
            <a:avLst/>
          </a:prstGeom>
          <a:solidFill>
            <a:srgbClr val="2563EB"/>
          </a:solidFill>
          <a:ln/>
        </p:spPr>
      </p:sp>
      <p:sp>
        <p:nvSpPr>
          <p:cNvPr id="36" name="Text 33"/>
          <p:cNvSpPr/>
          <p:nvPr/>
        </p:nvSpPr>
        <p:spPr>
          <a:xfrm>
            <a:off x="3813048" y="470916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Tailwind CSS</a:t>
            </a:r>
            <a:endParaRPr lang="en-US" sz="1250" dirty="0"/>
          </a:p>
        </p:txBody>
      </p:sp>
      <p:sp>
        <p:nvSpPr>
          <p:cNvPr id="37" name="Shape 34"/>
          <p:cNvSpPr/>
          <p:nvPr/>
        </p:nvSpPr>
        <p:spPr>
          <a:xfrm>
            <a:off x="3575304" y="5367528"/>
            <a:ext cx="109728" cy="109728"/>
          </a:xfrm>
          <a:prstGeom prst="ellipse">
            <a:avLst/>
          </a:prstGeom>
          <a:solidFill>
            <a:srgbClr val="2563EB"/>
          </a:solidFill>
          <a:ln/>
        </p:spPr>
      </p:sp>
      <p:sp>
        <p:nvSpPr>
          <p:cNvPr id="38" name="Text 35"/>
          <p:cNvSpPr/>
          <p:nvPr/>
        </p:nvSpPr>
        <p:spPr>
          <a:xfrm>
            <a:off x="3813048" y="52578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Server-Sent Events</a:t>
            </a:r>
            <a:endParaRPr lang="en-US" sz="1250" dirty="0"/>
          </a:p>
        </p:txBody>
      </p:sp>
      <p:sp>
        <p:nvSpPr>
          <p:cNvPr id="39" name="Shape 36"/>
          <p:cNvSpPr/>
          <p:nvPr/>
        </p:nvSpPr>
        <p:spPr>
          <a:xfrm>
            <a:off x="6163056" y="1783080"/>
            <a:ext cx="2688336" cy="41605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40" name="Shape 37"/>
          <p:cNvSpPr/>
          <p:nvPr/>
        </p:nvSpPr>
        <p:spPr>
          <a:xfrm>
            <a:off x="6163056" y="1783080"/>
            <a:ext cx="64008" cy="4160520"/>
          </a:xfrm>
          <a:prstGeom prst="rect">
            <a:avLst/>
          </a:prstGeom>
          <a:solidFill>
            <a:srgbClr val="1E3A8A"/>
          </a:solidFill>
          <a:ln/>
        </p:spPr>
      </p:sp>
      <p:sp>
        <p:nvSpPr>
          <p:cNvPr id="41" name="Shape 38"/>
          <p:cNvSpPr/>
          <p:nvPr/>
        </p:nvSpPr>
        <p:spPr>
          <a:xfrm>
            <a:off x="6227064" y="1783080"/>
            <a:ext cx="2624328" cy="566928"/>
          </a:xfrm>
          <a:prstGeom prst="rect">
            <a:avLst/>
          </a:prstGeom>
          <a:solidFill>
            <a:srgbClr val="1E3A8A"/>
          </a:solidFill>
          <a:ln/>
        </p:spPr>
      </p:sp>
      <p:sp>
        <p:nvSpPr>
          <p:cNvPr id="42" name="Text 39"/>
          <p:cNvSpPr/>
          <p:nvPr/>
        </p:nvSpPr>
        <p:spPr>
          <a:xfrm>
            <a:off x="6345936" y="1783080"/>
            <a:ext cx="2414016" cy="56692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Data &amp; Infra</a:t>
            </a:r>
            <a:endParaRPr lang="en-US" sz="1600" dirty="0"/>
          </a:p>
        </p:txBody>
      </p:sp>
      <p:sp>
        <p:nvSpPr>
          <p:cNvPr id="43" name="Shape 40"/>
          <p:cNvSpPr/>
          <p:nvPr/>
        </p:nvSpPr>
        <p:spPr>
          <a:xfrm>
            <a:off x="6382512" y="2624328"/>
            <a:ext cx="109728" cy="109728"/>
          </a:xfrm>
          <a:prstGeom prst="ellipse">
            <a:avLst/>
          </a:prstGeom>
          <a:solidFill>
            <a:srgbClr val="1E3A8A"/>
          </a:solidFill>
          <a:ln/>
        </p:spPr>
      </p:sp>
      <p:sp>
        <p:nvSpPr>
          <p:cNvPr id="44" name="Text 41"/>
          <p:cNvSpPr/>
          <p:nvPr/>
        </p:nvSpPr>
        <p:spPr>
          <a:xfrm>
            <a:off x="6620256" y="25146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PostgreSQL / MySQL</a:t>
            </a:r>
            <a:endParaRPr lang="en-US" sz="1250" dirty="0"/>
          </a:p>
        </p:txBody>
      </p:sp>
      <p:sp>
        <p:nvSpPr>
          <p:cNvPr id="45" name="Shape 42"/>
          <p:cNvSpPr/>
          <p:nvPr/>
        </p:nvSpPr>
        <p:spPr>
          <a:xfrm>
            <a:off x="6382512" y="3172968"/>
            <a:ext cx="109728" cy="109728"/>
          </a:xfrm>
          <a:prstGeom prst="ellipse">
            <a:avLst/>
          </a:prstGeom>
          <a:solidFill>
            <a:srgbClr val="1E3A8A"/>
          </a:solidFill>
          <a:ln/>
        </p:spPr>
      </p:sp>
      <p:sp>
        <p:nvSpPr>
          <p:cNvPr id="46" name="Text 43"/>
          <p:cNvSpPr/>
          <p:nvPr/>
        </p:nvSpPr>
        <p:spPr>
          <a:xfrm>
            <a:off x="6620256" y="306324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TimescaleDB</a:t>
            </a:r>
            <a:endParaRPr lang="en-US" sz="1250" dirty="0"/>
          </a:p>
        </p:txBody>
      </p:sp>
      <p:sp>
        <p:nvSpPr>
          <p:cNvPr id="47" name="Shape 44"/>
          <p:cNvSpPr/>
          <p:nvPr/>
        </p:nvSpPr>
        <p:spPr>
          <a:xfrm>
            <a:off x="6382512" y="3721608"/>
            <a:ext cx="109728" cy="109728"/>
          </a:xfrm>
          <a:prstGeom prst="ellipse">
            <a:avLst/>
          </a:prstGeom>
          <a:solidFill>
            <a:srgbClr val="1E3A8A"/>
          </a:solidFill>
          <a:ln/>
        </p:spPr>
      </p:sp>
      <p:sp>
        <p:nvSpPr>
          <p:cNvPr id="48" name="Text 45"/>
          <p:cNvSpPr/>
          <p:nvPr/>
        </p:nvSpPr>
        <p:spPr>
          <a:xfrm>
            <a:off x="6620256" y="361188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Redis</a:t>
            </a:r>
            <a:endParaRPr lang="en-US" sz="1250" dirty="0"/>
          </a:p>
        </p:txBody>
      </p:sp>
      <p:sp>
        <p:nvSpPr>
          <p:cNvPr id="49" name="Shape 46"/>
          <p:cNvSpPr/>
          <p:nvPr/>
        </p:nvSpPr>
        <p:spPr>
          <a:xfrm>
            <a:off x="6382512" y="4270248"/>
            <a:ext cx="109728" cy="109728"/>
          </a:xfrm>
          <a:prstGeom prst="ellipse">
            <a:avLst/>
          </a:prstGeom>
          <a:solidFill>
            <a:srgbClr val="1E3A8A"/>
          </a:solidFill>
          <a:ln/>
        </p:spPr>
      </p:sp>
      <p:sp>
        <p:nvSpPr>
          <p:cNvPr id="50" name="Text 47"/>
          <p:cNvSpPr/>
          <p:nvPr/>
        </p:nvSpPr>
        <p:spPr>
          <a:xfrm>
            <a:off x="6620256" y="416052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Docker Compose</a:t>
            </a:r>
            <a:endParaRPr lang="en-US" sz="1250" dirty="0"/>
          </a:p>
        </p:txBody>
      </p:sp>
      <p:sp>
        <p:nvSpPr>
          <p:cNvPr id="51" name="Shape 48"/>
          <p:cNvSpPr/>
          <p:nvPr/>
        </p:nvSpPr>
        <p:spPr>
          <a:xfrm>
            <a:off x="6382512" y="4818888"/>
            <a:ext cx="109728" cy="109728"/>
          </a:xfrm>
          <a:prstGeom prst="ellipse">
            <a:avLst/>
          </a:prstGeom>
          <a:solidFill>
            <a:srgbClr val="1E3A8A"/>
          </a:solidFill>
          <a:ln/>
        </p:spPr>
      </p:sp>
      <p:sp>
        <p:nvSpPr>
          <p:cNvPr id="52" name="Text 49"/>
          <p:cNvSpPr/>
          <p:nvPr/>
        </p:nvSpPr>
        <p:spPr>
          <a:xfrm>
            <a:off x="6620256" y="470916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Ollama / Groq LLM</a:t>
            </a:r>
            <a:endParaRPr lang="en-US" sz="1250" dirty="0"/>
          </a:p>
        </p:txBody>
      </p:sp>
      <p:sp>
        <p:nvSpPr>
          <p:cNvPr id="53" name="Shape 50"/>
          <p:cNvSpPr/>
          <p:nvPr/>
        </p:nvSpPr>
        <p:spPr>
          <a:xfrm>
            <a:off x="6382512" y="5367528"/>
            <a:ext cx="109728" cy="109728"/>
          </a:xfrm>
          <a:prstGeom prst="ellipse">
            <a:avLst/>
          </a:prstGeom>
          <a:solidFill>
            <a:srgbClr val="1E3A8A"/>
          </a:solidFill>
          <a:ln/>
        </p:spPr>
      </p:sp>
      <p:sp>
        <p:nvSpPr>
          <p:cNvPr id="54" name="Text 51"/>
          <p:cNvSpPr/>
          <p:nvPr/>
        </p:nvSpPr>
        <p:spPr>
          <a:xfrm>
            <a:off x="6620256" y="52578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MinIO cold storage</a:t>
            </a:r>
            <a:endParaRPr lang="en-US" sz="1250" dirty="0"/>
          </a:p>
        </p:txBody>
      </p:sp>
      <p:sp>
        <p:nvSpPr>
          <p:cNvPr id="55" name="Shape 52"/>
          <p:cNvSpPr/>
          <p:nvPr/>
        </p:nvSpPr>
        <p:spPr>
          <a:xfrm>
            <a:off x="8970264" y="1783080"/>
            <a:ext cx="2688336" cy="41605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56" name="Shape 53"/>
          <p:cNvSpPr/>
          <p:nvPr/>
        </p:nvSpPr>
        <p:spPr>
          <a:xfrm>
            <a:off x="8970264" y="1783080"/>
            <a:ext cx="64008" cy="4160520"/>
          </a:xfrm>
          <a:prstGeom prst="rect">
            <a:avLst/>
          </a:prstGeom>
          <a:solidFill>
            <a:srgbClr val="7C3AED"/>
          </a:solidFill>
          <a:ln/>
        </p:spPr>
      </p:sp>
      <p:sp>
        <p:nvSpPr>
          <p:cNvPr id="57" name="Shape 54"/>
          <p:cNvSpPr/>
          <p:nvPr/>
        </p:nvSpPr>
        <p:spPr>
          <a:xfrm>
            <a:off x="9034272" y="1783080"/>
            <a:ext cx="2624328" cy="566928"/>
          </a:xfrm>
          <a:prstGeom prst="rect">
            <a:avLst/>
          </a:prstGeom>
          <a:solidFill>
            <a:srgbClr val="7C3AED"/>
          </a:solidFill>
          <a:ln/>
        </p:spPr>
      </p:sp>
      <p:sp>
        <p:nvSpPr>
          <p:cNvPr id="58" name="Text 55"/>
          <p:cNvSpPr/>
          <p:nvPr/>
        </p:nvSpPr>
        <p:spPr>
          <a:xfrm>
            <a:off x="9153144" y="1783080"/>
            <a:ext cx="2414016" cy="566928"/>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Observability</a:t>
            </a:r>
            <a:endParaRPr lang="en-US" sz="1600" dirty="0"/>
          </a:p>
        </p:txBody>
      </p:sp>
      <p:sp>
        <p:nvSpPr>
          <p:cNvPr id="59" name="Shape 56"/>
          <p:cNvSpPr/>
          <p:nvPr/>
        </p:nvSpPr>
        <p:spPr>
          <a:xfrm>
            <a:off x="9189720" y="2624328"/>
            <a:ext cx="109728" cy="109728"/>
          </a:xfrm>
          <a:prstGeom prst="ellipse">
            <a:avLst/>
          </a:prstGeom>
          <a:solidFill>
            <a:srgbClr val="7C3AED"/>
          </a:solidFill>
          <a:ln/>
        </p:spPr>
      </p:sp>
      <p:sp>
        <p:nvSpPr>
          <p:cNvPr id="60" name="Text 57"/>
          <p:cNvSpPr/>
          <p:nvPr/>
        </p:nvSpPr>
        <p:spPr>
          <a:xfrm>
            <a:off x="9427464" y="25146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structlog (JSON)</a:t>
            </a:r>
            <a:endParaRPr lang="en-US" sz="1250" dirty="0"/>
          </a:p>
        </p:txBody>
      </p:sp>
      <p:sp>
        <p:nvSpPr>
          <p:cNvPr id="61" name="Shape 58"/>
          <p:cNvSpPr/>
          <p:nvPr/>
        </p:nvSpPr>
        <p:spPr>
          <a:xfrm>
            <a:off x="9189720" y="3172968"/>
            <a:ext cx="109728" cy="109728"/>
          </a:xfrm>
          <a:prstGeom prst="ellipse">
            <a:avLst/>
          </a:prstGeom>
          <a:solidFill>
            <a:srgbClr val="7C3AED"/>
          </a:solidFill>
          <a:ln/>
        </p:spPr>
      </p:sp>
      <p:sp>
        <p:nvSpPr>
          <p:cNvPr id="62" name="Text 59"/>
          <p:cNvSpPr/>
          <p:nvPr/>
        </p:nvSpPr>
        <p:spPr>
          <a:xfrm>
            <a:off x="9427464" y="306324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Prometheus</a:t>
            </a:r>
            <a:endParaRPr lang="en-US" sz="1250" dirty="0"/>
          </a:p>
        </p:txBody>
      </p:sp>
      <p:sp>
        <p:nvSpPr>
          <p:cNvPr id="63" name="Shape 60"/>
          <p:cNvSpPr/>
          <p:nvPr/>
        </p:nvSpPr>
        <p:spPr>
          <a:xfrm>
            <a:off x="9189720" y="3721608"/>
            <a:ext cx="109728" cy="109728"/>
          </a:xfrm>
          <a:prstGeom prst="ellipse">
            <a:avLst/>
          </a:prstGeom>
          <a:solidFill>
            <a:srgbClr val="7C3AED"/>
          </a:solidFill>
          <a:ln/>
        </p:spPr>
      </p:sp>
      <p:sp>
        <p:nvSpPr>
          <p:cNvPr id="64" name="Text 61"/>
          <p:cNvSpPr/>
          <p:nvPr/>
        </p:nvSpPr>
        <p:spPr>
          <a:xfrm>
            <a:off x="9427464" y="361188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Grafana</a:t>
            </a:r>
            <a:endParaRPr lang="en-US" sz="1250" dirty="0"/>
          </a:p>
        </p:txBody>
      </p:sp>
      <p:sp>
        <p:nvSpPr>
          <p:cNvPr id="65" name="Shape 62"/>
          <p:cNvSpPr/>
          <p:nvPr/>
        </p:nvSpPr>
        <p:spPr>
          <a:xfrm>
            <a:off x="9189720" y="4270248"/>
            <a:ext cx="109728" cy="109728"/>
          </a:xfrm>
          <a:prstGeom prst="ellipse">
            <a:avLst/>
          </a:prstGeom>
          <a:solidFill>
            <a:srgbClr val="7C3AED"/>
          </a:solidFill>
          <a:ln/>
        </p:spPr>
      </p:sp>
      <p:sp>
        <p:nvSpPr>
          <p:cNvPr id="66" name="Text 63"/>
          <p:cNvSpPr/>
          <p:nvPr/>
        </p:nvSpPr>
        <p:spPr>
          <a:xfrm>
            <a:off x="9427464" y="416052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OpenTelemetry</a:t>
            </a:r>
            <a:endParaRPr lang="en-US" sz="1250" dirty="0"/>
          </a:p>
        </p:txBody>
      </p:sp>
      <p:sp>
        <p:nvSpPr>
          <p:cNvPr id="67" name="Shape 64"/>
          <p:cNvSpPr/>
          <p:nvPr/>
        </p:nvSpPr>
        <p:spPr>
          <a:xfrm>
            <a:off x="9189720" y="4818888"/>
            <a:ext cx="109728" cy="109728"/>
          </a:xfrm>
          <a:prstGeom prst="ellipse">
            <a:avLst/>
          </a:prstGeom>
          <a:solidFill>
            <a:srgbClr val="7C3AED"/>
          </a:solidFill>
          <a:ln/>
        </p:spPr>
      </p:sp>
      <p:sp>
        <p:nvSpPr>
          <p:cNvPr id="68" name="Text 65"/>
          <p:cNvSpPr/>
          <p:nvPr/>
        </p:nvSpPr>
        <p:spPr>
          <a:xfrm>
            <a:off x="9427464" y="470916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Tiered alerting</a:t>
            </a:r>
            <a:endParaRPr lang="en-US" sz="1250" dirty="0"/>
          </a:p>
        </p:txBody>
      </p:sp>
      <p:sp>
        <p:nvSpPr>
          <p:cNvPr id="69" name="Shape 66"/>
          <p:cNvSpPr/>
          <p:nvPr/>
        </p:nvSpPr>
        <p:spPr>
          <a:xfrm>
            <a:off x="9189720" y="5367528"/>
            <a:ext cx="109728" cy="109728"/>
          </a:xfrm>
          <a:prstGeom prst="ellipse">
            <a:avLst/>
          </a:prstGeom>
          <a:solidFill>
            <a:srgbClr val="7C3AED"/>
          </a:solidFill>
          <a:ln/>
        </p:spPr>
      </p:sp>
      <p:sp>
        <p:nvSpPr>
          <p:cNvPr id="70" name="Text 67"/>
          <p:cNvSpPr/>
          <p:nvPr/>
        </p:nvSpPr>
        <p:spPr>
          <a:xfrm>
            <a:off x="9427464" y="5257800"/>
            <a:ext cx="2139696" cy="365760"/>
          </a:xfrm>
          <a:prstGeom prst="rect">
            <a:avLst/>
          </a:prstGeom>
          <a:noFill/>
          <a:ln/>
        </p:spPr>
        <p:txBody>
          <a:bodyPr wrap="square" lIns="0" tIns="0" rIns="0" bIns="0" rtlCol="0" anchor="ctr"/>
          <a:lstStyle/>
          <a:p>
            <a:pPr indent="0" marL="0">
              <a:buNone/>
            </a:pPr>
            <a:r>
              <a:rPr lang="en-US" sz="1250" dirty="0">
                <a:solidFill>
                  <a:srgbClr val="334155"/>
                </a:solidFill>
                <a:latin typeface="Calibri" pitchFamily="34" charset="0"/>
                <a:ea typeface="Calibri" pitchFamily="34" charset="-122"/>
                <a:cs typeface="Calibri" pitchFamily="34" charset="-120"/>
              </a:rPr>
              <a:t>Immutable audit log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OVERVIEW · WHAT IT DOES</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Nine capabilities, one autonomous agent</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
        <p:nvSpPr>
          <p:cNvPr id="7" name="Shape 4"/>
          <p:cNvSpPr/>
          <p:nvPr/>
        </p:nvSpPr>
        <p:spPr>
          <a:xfrm>
            <a:off x="548640" y="1783080"/>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8" name="Shape 5"/>
          <p:cNvSpPr/>
          <p:nvPr/>
        </p:nvSpPr>
        <p:spPr>
          <a:xfrm>
            <a:off x="548640" y="1783080"/>
            <a:ext cx="64008" cy="1325880"/>
          </a:xfrm>
          <a:prstGeom prst="rect">
            <a:avLst/>
          </a:prstGeom>
          <a:solidFill>
            <a:srgbClr val="0D9488"/>
          </a:solidFill>
          <a:ln/>
        </p:spPr>
      </p:sp>
      <p:sp>
        <p:nvSpPr>
          <p:cNvPr id="9" name="Shape 6"/>
          <p:cNvSpPr/>
          <p:nvPr/>
        </p:nvSpPr>
        <p:spPr>
          <a:xfrm>
            <a:off x="749808" y="2020824"/>
            <a:ext cx="603504" cy="603504"/>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10" name="Image 0" descr="images/icons/gauge.png">    </p:cNvPr>
          <p:cNvPicPr>
            <a:picLocks noChangeAspect="1"/>
          </p:cNvPicPr>
          <p:nvPr/>
        </p:nvPicPr>
        <p:blipFill>
          <a:blip r:embed="rId1"/>
          <a:stretch>
            <a:fillRect/>
          </a:stretch>
        </p:blipFill>
        <p:spPr>
          <a:xfrm>
            <a:off x="894649" y="2165665"/>
            <a:ext cx="313822" cy="313822"/>
          </a:xfrm>
          <a:prstGeom prst="rect">
            <a:avLst/>
          </a:prstGeom>
        </p:spPr>
      </p:pic>
      <p:sp>
        <p:nvSpPr>
          <p:cNvPr id="11" name="Text 7"/>
          <p:cNvSpPr/>
          <p:nvPr/>
        </p:nvSpPr>
        <p:spPr>
          <a:xfrm>
            <a:off x="1508760" y="1984248"/>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Real-time monitoring</a:t>
            </a:r>
            <a:endParaRPr lang="en-US" sz="1450" dirty="0"/>
          </a:p>
        </p:txBody>
      </p:sp>
      <p:sp>
        <p:nvSpPr>
          <p:cNvPr id="12" name="Text 8"/>
          <p:cNvSpPr/>
          <p:nvPr/>
        </p:nvSpPr>
        <p:spPr>
          <a:xfrm>
            <a:off x="1508760" y="2386584"/>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10s critical / 60s secondary polling</a:t>
            </a:r>
            <a:endParaRPr lang="en-US" sz="1150" dirty="0"/>
          </a:p>
        </p:txBody>
      </p:sp>
      <p:sp>
        <p:nvSpPr>
          <p:cNvPr id="13" name="Shape 9"/>
          <p:cNvSpPr/>
          <p:nvPr/>
        </p:nvSpPr>
        <p:spPr>
          <a:xfrm>
            <a:off x="4325112" y="1783080"/>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4" name="Shape 10"/>
          <p:cNvSpPr/>
          <p:nvPr/>
        </p:nvSpPr>
        <p:spPr>
          <a:xfrm>
            <a:off x="4325112" y="1783080"/>
            <a:ext cx="64008" cy="1325880"/>
          </a:xfrm>
          <a:prstGeom prst="rect">
            <a:avLst/>
          </a:prstGeom>
          <a:solidFill>
            <a:srgbClr val="2563EB"/>
          </a:solidFill>
          <a:ln/>
        </p:spPr>
      </p:sp>
      <p:sp>
        <p:nvSpPr>
          <p:cNvPr id="15" name="Shape 11"/>
          <p:cNvSpPr/>
          <p:nvPr/>
        </p:nvSpPr>
        <p:spPr>
          <a:xfrm>
            <a:off x="4526280" y="2020824"/>
            <a:ext cx="603504" cy="603504"/>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16" name="Image 1" descr="images/icons/search.png">    </p:cNvPr>
          <p:cNvPicPr>
            <a:picLocks noChangeAspect="1"/>
          </p:cNvPicPr>
          <p:nvPr/>
        </p:nvPicPr>
        <p:blipFill>
          <a:blip r:embed="rId2"/>
          <a:stretch>
            <a:fillRect/>
          </a:stretch>
        </p:blipFill>
        <p:spPr>
          <a:xfrm>
            <a:off x="4671121" y="2165665"/>
            <a:ext cx="313822" cy="313822"/>
          </a:xfrm>
          <a:prstGeom prst="rect">
            <a:avLst/>
          </a:prstGeom>
        </p:spPr>
      </p:pic>
      <p:sp>
        <p:nvSpPr>
          <p:cNvPr id="17" name="Text 12"/>
          <p:cNvSpPr/>
          <p:nvPr/>
        </p:nvSpPr>
        <p:spPr>
          <a:xfrm>
            <a:off x="5285232" y="1984248"/>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Slow-query detection</a:t>
            </a:r>
            <a:endParaRPr lang="en-US" sz="1450" dirty="0"/>
          </a:p>
        </p:txBody>
      </p:sp>
      <p:sp>
        <p:nvSpPr>
          <p:cNvPr id="18" name="Text 13"/>
          <p:cNvSpPr/>
          <p:nvPr/>
        </p:nvSpPr>
        <p:spPr>
          <a:xfrm>
            <a:off x="5285232" y="2386584"/>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Fingerprinting + z-score / IQR anomalies</a:t>
            </a:r>
            <a:endParaRPr lang="en-US" sz="1150" dirty="0"/>
          </a:p>
        </p:txBody>
      </p:sp>
      <p:sp>
        <p:nvSpPr>
          <p:cNvPr id="19" name="Shape 14"/>
          <p:cNvSpPr/>
          <p:nvPr/>
        </p:nvSpPr>
        <p:spPr>
          <a:xfrm>
            <a:off x="8101584" y="1783080"/>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0" name="Shape 15"/>
          <p:cNvSpPr/>
          <p:nvPr/>
        </p:nvSpPr>
        <p:spPr>
          <a:xfrm>
            <a:off x="8101584" y="1783080"/>
            <a:ext cx="64008" cy="1325880"/>
          </a:xfrm>
          <a:prstGeom prst="rect">
            <a:avLst/>
          </a:prstGeom>
          <a:solidFill>
            <a:srgbClr val="7C3AED"/>
          </a:solidFill>
          <a:ln/>
        </p:spPr>
      </p:sp>
      <p:sp>
        <p:nvSpPr>
          <p:cNvPr id="21" name="Shape 16"/>
          <p:cNvSpPr/>
          <p:nvPr/>
        </p:nvSpPr>
        <p:spPr>
          <a:xfrm>
            <a:off x="8302752" y="2020824"/>
            <a:ext cx="603504" cy="603504"/>
          </a:xfrm>
          <a:prstGeom prst="ellipse">
            <a:avLst/>
          </a:prstGeom>
          <a:solidFill>
            <a:srgbClr val="7C3AED"/>
          </a:solidFill>
          <a:ln/>
          <a:effectLst>
            <a:outerShdw sx="100000" sy="100000" kx="0" ky="0" algn="bl" rotWithShape="0" blurRad="114300" dist="38100" dir="5400000">
              <a:srgbClr val="94A3B8">
                <a:alpha val="28000"/>
              </a:srgbClr>
            </a:outerShdw>
          </a:effectLst>
        </p:spPr>
      </p:sp>
      <p:pic>
        <p:nvPicPr>
          <p:cNvPr id="22" name="Image 2" descr="images/icons/spark.png">    </p:cNvPr>
          <p:cNvPicPr>
            <a:picLocks noChangeAspect="1"/>
          </p:cNvPicPr>
          <p:nvPr/>
        </p:nvPicPr>
        <p:blipFill>
          <a:blip r:embed="rId3"/>
          <a:stretch>
            <a:fillRect/>
          </a:stretch>
        </p:blipFill>
        <p:spPr>
          <a:xfrm>
            <a:off x="8447593" y="2165665"/>
            <a:ext cx="313822" cy="313822"/>
          </a:xfrm>
          <a:prstGeom prst="rect">
            <a:avLst/>
          </a:prstGeom>
        </p:spPr>
      </p:pic>
      <p:sp>
        <p:nvSpPr>
          <p:cNvPr id="23" name="Text 17"/>
          <p:cNvSpPr/>
          <p:nvPr/>
        </p:nvSpPr>
        <p:spPr>
          <a:xfrm>
            <a:off x="9061704" y="1984248"/>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SQL optimization</a:t>
            </a:r>
            <a:endParaRPr lang="en-US" sz="1450" dirty="0"/>
          </a:p>
        </p:txBody>
      </p:sp>
      <p:sp>
        <p:nvSpPr>
          <p:cNvPr id="24" name="Text 18"/>
          <p:cNvSpPr/>
          <p:nvPr/>
        </p:nvSpPr>
        <p:spPr>
          <a:xfrm>
            <a:off x="9061704" y="2386584"/>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LLM rewrites + rule-based fallback</a:t>
            </a:r>
            <a:endParaRPr lang="en-US" sz="1150" dirty="0"/>
          </a:p>
        </p:txBody>
      </p:sp>
      <p:sp>
        <p:nvSpPr>
          <p:cNvPr id="25" name="Shape 19"/>
          <p:cNvSpPr/>
          <p:nvPr/>
        </p:nvSpPr>
        <p:spPr>
          <a:xfrm>
            <a:off x="548640" y="3227832"/>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6" name="Shape 20"/>
          <p:cNvSpPr/>
          <p:nvPr/>
        </p:nvSpPr>
        <p:spPr>
          <a:xfrm>
            <a:off x="548640" y="3227832"/>
            <a:ext cx="64008" cy="1325880"/>
          </a:xfrm>
          <a:prstGeom prst="rect">
            <a:avLst/>
          </a:prstGeom>
          <a:solidFill>
            <a:srgbClr val="0D9488"/>
          </a:solidFill>
          <a:ln/>
        </p:spPr>
      </p:sp>
      <p:sp>
        <p:nvSpPr>
          <p:cNvPr id="27" name="Shape 21"/>
          <p:cNvSpPr/>
          <p:nvPr/>
        </p:nvSpPr>
        <p:spPr>
          <a:xfrm>
            <a:off x="749808" y="3465576"/>
            <a:ext cx="603504" cy="603504"/>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28" name="Image 3" descr="images/icons/flask.png">    </p:cNvPr>
          <p:cNvPicPr>
            <a:picLocks noChangeAspect="1"/>
          </p:cNvPicPr>
          <p:nvPr/>
        </p:nvPicPr>
        <p:blipFill>
          <a:blip r:embed="rId4"/>
          <a:stretch>
            <a:fillRect/>
          </a:stretch>
        </p:blipFill>
        <p:spPr>
          <a:xfrm>
            <a:off x="894649" y="3610417"/>
            <a:ext cx="313822" cy="313822"/>
          </a:xfrm>
          <a:prstGeom prst="rect">
            <a:avLst/>
          </a:prstGeom>
        </p:spPr>
      </p:pic>
      <p:sp>
        <p:nvSpPr>
          <p:cNvPr id="29" name="Text 22"/>
          <p:cNvSpPr/>
          <p:nvPr/>
        </p:nvSpPr>
        <p:spPr>
          <a:xfrm>
            <a:off x="1508760" y="3429000"/>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Workload replay</a:t>
            </a:r>
            <a:endParaRPr lang="en-US" sz="1450" dirty="0"/>
          </a:p>
        </p:txBody>
      </p:sp>
      <p:sp>
        <p:nvSpPr>
          <p:cNvPr id="30" name="Text 23"/>
          <p:cNvSpPr/>
          <p:nvPr/>
        </p:nvSpPr>
        <p:spPr>
          <a:xfrm>
            <a:off x="1508760" y="3831336"/>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Validate changes on a shadow DB</a:t>
            </a:r>
            <a:endParaRPr lang="en-US" sz="1150" dirty="0"/>
          </a:p>
        </p:txBody>
      </p:sp>
      <p:sp>
        <p:nvSpPr>
          <p:cNvPr id="31" name="Shape 24"/>
          <p:cNvSpPr/>
          <p:nvPr/>
        </p:nvSpPr>
        <p:spPr>
          <a:xfrm>
            <a:off x="4325112" y="3227832"/>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2" name="Shape 25"/>
          <p:cNvSpPr/>
          <p:nvPr/>
        </p:nvSpPr>
        <p:spPr>
          <a:xfrm>
            <a:off x="4325112" y="3227832"/>
            <a:ext cx="64008" cy="1325880"/>
          </a:xfrm>
          <a:prstGeom prst="rect">
            <a:avLst/>
          </a:prstGeom>
          <a:solidFill>
            <a:srgbClr val="06B6D4"/>
          </a:solidFill>
          <a:ln/>
        </p:spPr>
      </p:sp>
      <p:sp>
        <p:nvSpPr>
          <p:cNvPr id="33" name="Shape 26"/>
          <p:cNvSpPr/>
          <p:nvPr/>
        </p:nvSpPr>
        <p:spPr>
          <a:xfrm>
            <a:off x="4526280" y="3465576"/>
            <a:ext cx="603504" cy="603504"/>
          </a:xfrm>
          <a:prstGeom prst="ellipse">
            <a:avLst/>
          </a:prstGeom>
          <a:solidFill>
            <a:srgbClr val="06B6D4"/>
          </a:solidFill>
          <a:ln/>
          <a:effectLst>
            <a:outerShdw sx="100000" sy="100000" kx="0" ky="0" algn="bl" rotWithShape="0" blurRad="114300" dist="38100" dir="5400000">
              <a:srgbClr val="94A3B8">
                <a:alpha val="28000"/>
              </a:srgbClr>
            </a:outerShdw>
          </a:effectLst>
        </p:spPr>
      </p:sp>
      <p:pic>
        <p:nvPicPr>
          <p:cNvPr id="34" name="Image 4" descr="images/icons/clock.png">    </p:cNvPr>
          <p:cNvPicPr>
            <a:picLocks noChangeAspect="1"/>
          </p:cNvPicPr>
          <p:nvPr/>
        </p:nvPicPr>
        <p:blipFill>
          <a:blip r:embed="rId5"/>
          <a:stretch>
            <a:fillRect/>
          </a:stretch>
        </p:blipFill>
        <p:spPr>
          <a:xfrm>
            <a:off x="4671121" y="3610417"/>
            <a:ext cx="313822" cy="313822"/>
          </a:xfrm>
          <a:prstGeom prst="rect">
            <a:avLst/>
          </a:prstGeom>
        </p:spPr>
      </p:pic>
      <p:sp>
        <p:nvSpPr>
          <p:cNvPr id="35" name="Text 27"/>
          <p:cNvSpPr/>
          <p:nvPr/>
        </p:nvSpPr>
        <p:spPr>
          <a:xfrm>
            <a:off x="5285232" y="3429000"/>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Capacity forecasting</a:t>
            </a:r>
            <a:endParaRPr lang="en-US" sz="1450" dirty="0"/>
          </a:p>
        </p:txBody>
      </p:sp>
      <p:sp>
        <p:nvSpPr>
          <p:cNvPr id="36" name="Text 28"/>
          <p:cNvSpPr/>
          <p:nvPr/>
        </p:nvSpPr>
        <p:spPr>
          <a:xfrm>
            <a:off x="5285232" y="3831336"/>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Prophet / linear · 4-week lookahead</a:t>
            </a:r>
            <a:endParaRPr lang="en-US" sz="1150" dirty="0"/>
          </a:p>
        </p:txBody>
      </p:sp>
      <p:sp>
        <p:nvSpPr>
          <p:cNvPr id="37" name="Shape 29"/>
          <p:cNvSpPr/>
          <p:nvPr/>
        </p:nvSpPr>
        <p:spPr>
          <a:xfrm>
            <a:off x="8101584" y="3227832"/>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8" name="Shape 30"/>
          <p:cNvSpPr/>
          <p:nvPr/>
        </p:nvSpPr>
        <p:spPr>
          <a:xfrm>
            <a:off x="8101584" y="3227832"/>
            <a:ext cx="64008" cy="1325880"/>
          </a:xfrm>
          <a:prstGeom prst="rect">
            <a:avLst/>
          </a:prstGeom>
          <a:solidFill>
            <a:srgbClr val="F59E0B"/>
          </a:solidFill>
          <a:ln/>
        </p:spPr>
      </p:sp>
      <p:sp>
        <p:nvSpPr>
          <p:cNvPr id="39" name="Shape 31"/>
          <p:cNvSpPr/>
          <p:nvPr/>
        </p:nvSpPr>
        <p:spPr>
          <a:xfrm>
            <a:off x="8302752" y="3465576"/>
            <a:ext cx="603504" cy="603504"/>
          </a:xfrm>
          <a:prstGeom prst="ellipse">
            <a:avLst/>
          </a:prstGeom>
          <a:solidFill>
            <a:srgbClr val="F59E0B"/>
          </a:solidFill>
          <a:ln/>
          <a:effectLst>
            <a:outerShdw sx="100000" sy="100000" kx="0" ky="0" algn="bl" rotWithShape="0" blurRad="114300" dist="38100" dir="5400000">
              <a:srgbClr val="94A3B8">
                <a:alpha val="28000"/>
              </a:srgbClr>
            </a:outerShdw>
          </a:effectLst>
        </p:spPr>
      </p:sp>
      <p:pic>
        <p:nvPicPr>
          <p:cNvPr id="40" name="Image 5" descr="images/icons/check.png">    </p:cNvPr>
          <p:cNvPicPr>
            <a:picLocks noChangeAspect="1"/>
          </p:cNvPicPr>
          <p:nvPr/>
        </p:nvPicPr>
        <p:blipFill>
          <a:blip r:embed="rId6"/>
          <a:stretch>
            <a:fillRect/>
          </a:stretch>
        </p:blipFill>
        <p:spPr>
          <a:xfrm>
            <a:off x="8447593" y="3610417"/>
            <a:ext cx="313822" cy="313822"/>
          </a:xfrm>
          <a:prstGeom prst="rect">
            <a:avLst/>
          </a:prstGeom>
        </p:spPr>
      </p:pic>
      <p:sp>
        <p:nvSpPr>
          <p:cNvPr id="41" name="Text 32"/>
          <p:cNvSpPr/>
          <p:nvPr/>
        </p:nvSpPr>
        <p:spPr>
          <a:xfrm>
            <a:off x="9061704" y="3429000"/>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Approval workflow</a:t>
            </a:r>
            <a:endParaRPr lang="en-US" sz="1450" dirty="0"/>
          </a:p>
        </p:txBody>
      </p:sp>
      <p:sp>
        <p:nvSpPr>
          <p:cNvPr id="42" name="Text 33"/>
          <p:cNvSpPr/>
          <p:nvPr/>
        </p:nvSpPr>
        <p:spPr>
          <a:xfrm>
            <a:off x="9061704" y="3831336"/>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Human-in-the-loop state machine</a:t>
            </a:r>
            <a:endParaRPr lang="en-US" sz="1150" dirty="0"/>
          </a:p>
        </p:txBody>
      </p:sp>
      <p:sp>
        <p:nvSpPr>
          <p:cNvPr id="43" name="Shape 34"/>
          <p:cNvSpPr/>
          <p:nvPr/>
        </p:nvSpPr>
        <p:spPr>
          <a:xfrm>
            <a:off x="548640" y="4672584"/>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44" name="Shape 35"/>
          <p:cNvSpPr/>
          <p:nvPr/>
        </p:nvSpPr>
        <p:spPr>
          <a:xfrm>
            <a:off x="548640" y="4672584"/>
            <a:ext cx="64008" cy="1325880"/>
          </a:xfrm>
          <a:prstGeom prst="rect">
            <a:avLst/>
          </a:prstGeom>
          <a:solidFill>
            <a:srgbClr val="1E3A8A"/>
          </a:solidFill>
          <a:ln/>
        </p:spPr>
      </p:sp>
      <p:sp>
        <p:nvSpPr>
          <p:cNvPr id="45" name="Shape 36"/>
          <p:cNvSpPr/>
          <p:nvPr/>
        </p:nvSpPr>
        <p:spPr>
          <a:xfrm>
            <a:off x="749808" y="4910328"/>
            <a:ext cx="603504" cy="603504"/>
          </a:xfrm>
          <a:prstGeom prst="ellipse">
            <a:avLst/>
          </a:prstGeom>
          <a:solidFill>
            <a:srgbClr val="1E3A8A"/>
          </a:solidFill>
          <a:ln/>
          <a:effectLst>
            <a:outerShdw sx="100000" sy="100000" kx="0" ky="0" algn="bl" rotWithShape="0" blurRad="114300" dist="38100" dir="5400000">
              <a:srgbClr val="94A3B8">
                <a:alpha val="28000"/>
              </a:srgbClr>
            </a:outerShdw>
          </a:effectLst>
        </p:spPr>
      </p:sp>
      <p:pic>
        <p:nvPicPr>
          <p:cNvPr id="46" name="Image 6" descr="images/icons/sync.png">    </p:cNvPr>
          <p:cNvPicPr>
            <a:picLocks noChangeAspect="1"/>
          </p:cNvPicPr>
          <p:nvPr/>
        </p:nvPicPr>
        <p:blipFill>
          <a:blip r:embed="rId7"/>
          <a:stretch>
            <a:fillRect/>
          </a:stretch>
        </p:blipFill>
        <p:spPr>
          <a:xfrm>
            <a:off x="894649" y="5055169"/>
            <a:ext cx="313822" cy="313822"/>
          </a:xfrm>
          <a:prstGeom prst="rect">
            <a:avLst/>
          </a:prstGeom>
        </p:spPr>
      </p:pic>
      <p:sp>
        <p:nvSpPr>
          <p:cNvPr id="47" name="Text 37"/>
          <p:cNvSpPr/>
          <p:nvPr/>
        </p:nvSpPr>
        <p:spPr>
          <a:xfrm>
            <a:off x="1508760" y="487375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Backup verification</a:t>
            </a:r>
            <a:endParaRPr lang="en-US" sz="1450" dirty="0"/>
          </a:p>
        </p:txBody>
      </p:sp>
      <p:sp>
        <p:nvSpPr>
          <p:cNvPr id="48" name="Text 38"/>
          <p:cNvSpPr/>
          <p:nvPr/>
        </p:nvSpPr>
        <p:spPr>
          <a:xfrm>
            <a:off x="1508760" y="5276088"/>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Ephemeral restore + checksums</a:t>
            </a:r>
            <a:endParaRPr lang="en-US" sz="1150" dirty="0"/>
          </a:p>
        </p:txBody>
      </p:sp>
      <p:sp>
        <p:nvSpPr>
          <p:cNvPr id="49" name="Shape 39"/>
          <p:cNvSpPr/>
          <p:nvPr/>
        </p:nvSpPr>
        <p:spPr>
          <a:xfrm>
            <a:off x="4325112" y="4672584"/>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50" name="Shape 40"/>
          <p:cNvSpPr/>
          <p:nvPr/>
        </p:nvSpPr>
        <p:spPr>
          <a:xfrm>
            <a:off x="4325112" y="4672584"/>
            <a:ext cx="64008" cy="1325880"/>
          </a:xfrm>
          <a:prstGeom prst="rect">
            <a:avLst/>
          </a:prstGeom>
          <a:solidFill>
            <a:srgbClr val="EF4444"/>
          </a:solidFill>
          <a:ln/>
        </p:spPr>
      </p:sp>
      <p:sp>
        <p:nvSpPr>
          <p:cNvPr id="51" name="Shape 41"/>
          <p:cNvSpPr/>
          <p:nvPr/>
        </p:nvSpPr>
        <p:spPr>
          <a:xfrm>
            <a:off x="4526280" y="4910328"/>
            <a:ext cx="603504" cy="603504"/>
          </a:xfrm>
          <a:prstGeom prst="ellipse">
            <a:avLst/>
          </a:prstGeom>
          <a:solidFill>
            <a:srgbClr val="EF4444"/>
          </a:solidFill>
          <a:ln/>
          <a:effectLst>
            <a:outerShdw sx="100000" sy="100000" kx="0" ky="0" algn="bl" rotWithShape="0" blurRad="114300" dist="38100" dir="5400000">
              <a:srgbClr val="94A3B8">
                <a:alpha val="28000"/>
              </a:srgbClr>
            </a:outerShdw>
          </a:effectLst>
        </p:spPr>
      </p:sp>
      <p:pic>
        <p:nvPicPr>
          <p:cNvPr id="52" name="Image 7" descr="images/icons/shield.png">    </p:cNvPr>
          <p:cNvPicPr>
            <a:picLocks noChangeAspect="1"/>
          </p:cNvPicPr>
          <p:nvPr/>
        </p:nvPicPr>
        <p:blipFill>
          <a:blip r:embed="rId8"/>
          <a:stretch>
            <a:fillRect/>
          </a:stretch>
        </p:blipFill>
        <p:spPr>
          <a:xfrm>
            <a:off x="4671121" y="5055169"/>
            <a:ext cx="313822" cy="313822"/>
          </a:xfrm>
          <a:prstGeom prst="rect">
            <a:avLst/>
          </a:prstGeom>
        </p:spPr>
      </p:pic>
      <p:sp>
        <p:nvSpPr>
          <p:cNvPr id="53" name="Text 42"/>
          <p:cNvSpPr/>
          <p:nvPr/>
        </p:nvSpPr>
        <p:spPr>
          <a:xfrm>
            <a:off x="5285232" y="487375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Security detection</a:t>
            </a:r>
            <a:endParaRPr lang="en-US" sz="1450" dirty="0"/>
          </a:p>
        </p:txBody>
      </p:sp>
      <p:sp>
        <p:nvSpPr>
          <p:cNvPr id="54" name="Text 43"/>
          <p:cNvSpPr/>
          <p:nvPr/>
        </p:nvSpPr>
        <p:spPr>
          <a:xfrm>
            <a:off x="5285232" y="5276088"/>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SQL-injection &amp; exfiltration alerts</a:t>
            </a:r>
            <a:endParaRPr lang="en-US" sz="1150" dirty="0"/>
          </a:p>
        </p:txBody>
      </p:sp>
      <p:sp>
        <p:nvSpPr>
          <p:cNvPr id="55" name="Shape 44"/>
          <p:cNvSpPr/>
          <p:nvPr/>
        </p:nvSpPr>
        <p:spPr>
          <a:xfrm>
            <a:off x="8101584" y="4672584"/>
            <a:ext cx="3657600" cy="13258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56" name="Shape 45"/>
          <p:cNvSpPr/>
          <p:nvPr/>
        </p:nvSpPr>
        <p:spPr>
          <a:xfrm>
            <a:off x="8101584" y="4672584"/>
            <a:ext cx="64008" cy="1325880"/>
          </a:xfrm>
          <a:prstGeom prst="rect">
            <a:avLst/>
          </a:prstGeom>
          <a:solidFill>
            <a:srgbClr val="2563EB"/>
          </a:solidFill>
          <a:ln/>
        </p:spPr>
      </p:sp>
      <p:sp>
        <p:nvSpPr>
          <p:cNvPr id="57" name="Shape 46"/>
          <p:cNvSpPr/>
          <p:nvPr/>
        </p:nvSpPr>
        <p:spPr>
          <a:xfrm>
            <a:off x="8302752" y="4910328"/>
            <a:ext cx="603504" cy="603504"/>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58" name="Image 8" descr="images/icons/chat.png">    </p:cNvPr>
          <p:cNvPicPr>
            <a:picLocks noChangeAspect="1"/>
          </p:cNvPicPr>
          <p:nvPr/>
        </p:nvPicPr>
        <p:blipFill>
          <a:blip r:embed="rId9"/>
          <a:stretch>
            <a:fillRect/>
          </a:stretch>
        </p:blipFill>
        <p:spPr>
          <a:xfrm>
            <a:off x="8447593" y="5055169"/>
            <a:ext cx="313822" cy="313822"/>
          </a:xfrm>
          <a:prstGeom prst="rect">
            <a:avLst/>
          </a:prstGeom>
        </p:spPr>
      </p:pic>
      <p:sp>
        <p:nvSpPr>
          <p:cNvPr id="59" name="Text 47"/>
          <p:cNvSpPr/>
          <p:nvPr/>
        </p:nvSpPr>
        <p:spPr>
          <a:xfrm>
            <a:off x="9061704" y="4873752"/>
            <a:ext cx="2606040" cy="365760"/>
          </a:xfrm>
          <a:prstGeom prst="rect">
            <a:avLst/>
          </a:prstGeom>
          <a:noFill/>
          <a:ln/>
        </p:spPr>
        <p:txBody>
          <a:bodyPr wrap="square" lIns="0" tIns="0" rIns="0" bIns="0" rtlCol="0" anchor="ctr"/>
          <a:lstStyle/>
          <a:p>
            <a:pPr indent="0" marL="0">
              <a:buNone/>
            </a:pPr>
            <a:r>
              <a:rPr lang="en-US" sz="1450" b="1" dirty="0">
                <a:solidFill>
                  <a:srgbClr val="0F172A"/>
                </a:solidFill>
                <a:latin typeface="Trebuchet MS" pitchFamily="34" charset="0"/>
                <a:ea typeface="Trebuchet MS" pitchFamily="34" charset="-122"/>
                <a:cs typeface="Trebuchet MS" pitchFamily="34" charset="-120"/>
              </a:rPr>
              <a:t>Natural-language chat</a:t>
            </a:r>
            <a:endParaRPr lang="en-US" sz="1450" dirty="0"/>
          </a:p>
        </p:txBody>
      </p:sp>
      <p:sp>
        <p:nvSpPr>
          <p:cNvPr id="60" name="Text 48"/>
          <p:cNvSpPr/>
          <p:nvPr/>
        </p:nvSpPr>
        <p:spPr>
          <a:xfrm>
            <a:off x="9061704" y="5276088"/>
            <a:ext cx="2606040"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Ask the DB questions in English</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DEEP DIVE · THE OPTIMIZATION LOOP</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From anomaly to safe deployment</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
        <p:nvSpPr>
          <p:cNvPr id="7" name="Shape 4"/>
          <p:cNvSpPr/>
          <p:nvPr/>
        </p:nvSpPr>
        <p:spPr>
          <a:xfrm>
            <a:off x="548640" y="196596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8" name="Shape 5"/>
          <p:cNvSpPr/>
          <p:nvPr/>
        </p:nvSpPr>
        <p:spPr>
          <a:xfrm>
            <a:off x="548640" y="1965960"/>
            <a:ext cx="64008" cy="1417320"/>
          </a:xfrm>
          <a:prstGeom prst="rect">
            <a:avLst/>
          </a:prstGeom>
          <a:solidFill>
            <a:srgbClr val="0D9488"/>
          </a:solidFill>
          <a:ln/>
        </p:spPr>
      </p:sp>
      <p:sp>
        <p:nvSpPr>
          <p:cNvPr id="9" name="Shape 6"/>
          <p:cNvSpPr/>
          <p:nvPr/>
        </p:nvSpPr>
        <p:spPr>
          <a:xfrm>
            <a:off x="749808" y="2167128"/>
            <a:ext cx="502920" cy="502920"/>
          </a:xfrm>
          <a:prstGeom prst="ellipse">
            <a:avLst/>
          </a:prstGeom>
          <a:solidFill>
            <a:srgbClr val="0D9488"/>
          </a:solidFill>
          <a:ln/>
        </p:spPr>
      </p:sp>
      <p:sp>
        <p:nvSpPr>
          <p:cNvPr id="10" name="Text 7"/>
          <p:cNvSpPr/>
          <p:nvPr/>
        </p:nvSpPr>
        <p:spPr>
          <a:xfrm>
            <a:off x="749808" y="21671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11" name="Text 8"/>
          <p:cNvSpPr/>
          <p:nvPr/>
        </p:nvSpPr>
        <p:spPr>
          <a:xfrm>
            <a:off x="1371600" y="220370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Monitor</a:t>
            </a:r>
            <a:endParaRPr lang="en-US" sz="1600" dirty="0"/>
          </a:p>
        </p:txBody>
      </p:sp>
      <p:sp>
        <p:nvSpPr>
          <p:cNvPr id="12" name="Text 9"/>
          <p:cNvSpPr/>
          <p:nvPr/>
        </p:nvSpPr>
        <p:spPr>
          <a:xfrm>
            <a:off x="804672" y="275234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Poll metrics + pg_stat_statements</a:t>
            </a:r>
            <a:endParaRPr lang="en-US" sz="1150" dirty="0"/>
          </a:p>
        </p:txBody>
      </p:sp>
      <p:sp>
        <p:nvSpPr>
          <p:cNvPr id="13" name="Shape 10"/>
          <p:cNvSpPr/>
          <p:nvPr/>
        </p:nvSpPr>
        <p:spPr>
          <a:xfrm>
            <a:off x="3154680" y="2674620"/>
            <a:ext cx="210312" cy="0"/>
          </a:xfrm>
          <a:prstGeom prst="line">
            <a:avLst/>
          </a:prstGeom>
          <a:noFill/>
          <a:ln w="25400">
            <a:solidFill>
              <a:srgbClr val="CBD5E1"/>
            </a:solidFill>
            <a:prstDash val="solid"/>
            <a:tailEnd type="triangle"/>
          </a:ln>
        </p:spPr>
      </p:sp>
      <p:sp>
        <p:nvSpPr>
          <p:cNvPr id="14" name="Shape 11"/>
          <p:cNvSpPr/>
          <p:nvPr/>
        </p:nvSpPr>
        <p:spPr>
          <a:xfrm>
            <a:off x="3383280" y="196596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5" name="Shape 12"/>
          <p:cNvSpPr/>
          <p:nvPr/>
        </p:nvSpPr>
        <p:spPr>
          <a:xfrm>
            <a:off x="3383280" y="1965960"/>
            <a:ext cx="64008" cy="1417320"/>
          </a:xfrm>
          <a:prstGeom prst="rect">
            <a:avLst/>
          </a:prstGeom>
          <a:solidFill>
            <a:srgbClr val="0D9488"/>
          </a:solidFill>
          <a:ln/>
        </p:spPr>
      </p:sp>
      <p:sp>
        <p:nvSpPr>
          <p:cNvPr id="16" name="Shape 13"/>
          <p:cNvSpPr/>
          <p:nvPr/>
        </p:nvSpPr>
        <p:spPr>
          <a:xfrm>
            <a:off x="3584448" y="2167128"/>
            <a:ext cx="502920" cy="502920"/>
          </a:xfrm>
          <a:prstGeom prst="ellipse">
            <a:avLst/>
          </a:prstGeom>
          <a:solidFill>
            <a:srgbClr val="0D9488"/>
          </a:solidFill>
          <a:ln/>
        </p:spPr>
      </p:sp>
      <p:sp>
        <p:nvSpPr>
          <p:cNvPr id="17" name="Text 14"/>
          <p:cNvSpPr/>
          <p:nvPr/>
        </p:nvSpPr>
        <p:spPr>
          <a:xfrm>
            <a:off x="3584448" y="21671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8" name="Text 15"/>
          <p:cNvSpPr/>
          <p:nvPr/>
        </p:nvSpPr>
        <p:spPr>
          <a:xfrm>
            <a:off x="4206240" y="220370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Fingerprint</a:t>
            </a:r>
            <a:endParaRPr lang="en-US" sz="1600" dirty="0"/>
          </a:p>
        </p:txBody>
      </p:sp>
      <p:sp>
        <p:nvSpPr>
          <p:cNvPr id="19" name="Text 16"/>
          <p:cNvSpPr/>
          <p:nvPr/>
        </p:nvSpPr>
        <p:spPr>
          <a:xfrm>
            <a:off x="3639312" y="275234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Normalize &amp; classify queries</a:t>
            </a:r>
            <a:endParaRPr lang="en-US" sz="1150" dirty="0"/>
          </a:p>
        </p:txBody>
      </p:sp>
      <p:sp>
        <p:nvSpPr>
          <p:cNvPr id="20" name="Shape 17"/>
          <p:cNvSpPr/>
          <p:nvPr/>
        </p:nvSpPr>
        <p:spPr>
          <a:xfrm>
            <a:off x="5989320" y="2674620"/>
            <a:ext cx="210312" cy="0"/>
          </a:xfrm>
          <a:prstGeom prst="line">
            <a:avLst/>
          </a:prstGeom>
          <a:noFill/>
          <a:ln w="25400">
            <a:solidFill>
              <a:srgbClr val="CBD5E1"/>
            </a:solidFill>
            <a:prstDash val="solid"/>
            <a:tailEnd type="triangle"/>
          </a:ln>
        </p:spPr>
      </p:sp>
      <p:sp>
        <p:nvSpPr>
          <p:cNvPr id="21" name="Shape 18"/>
          <p:cNvSpPr/>
          <p:nvPr/>
        </p:nvSpPr>
        <p:spPr>
          <a:xfrm>
            <a:off x="6217920" y="196596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2" name="Shape 19"/>
          <p:cNvSpPr/>
          <p:nvPr/>
        </p:nvSpPr>
        <p:spPr>
          <a:xfrm>
            <a:off x="6217920" y="1965960"/>
            <a:ext cx="64008" cy="1417320"/>
          </a:xfrm>
          <a:prstGeom prst="rect">
            <a:avLst/>
          </a:prstGeom>
          <a:solidFill>
            <a:srgbClr val="0D9488"/>
          </a:solidFill>
          <a:ln/>
        </p:spPr>
      </p:sp>
      <p:sp>
        <p:nvSpPr>
          <p:cNvPr id="23" name="Shape 20"/>
          <p:cNvSpPr/>
          <p:nvPr/>
        </p:nvSpPr>
        <p:spPr>
          <a:xfrm>
            <a:off x="6419088" y="2167128"/>
            <a:ext cx="502920" cy="502920"/>
          </a:xfrm>
          <a:prstGeom prst="ellipse">
            <a:avLst/>
          </a:prstGeom>
          <a:solidFill>
            <a:srgbClr val="0D9488"/>
          </a:solidFill>
          <a:ln/>
        </p:spPr>
      </p:sp>
      <p:sp>
        <p:nvSpPr>
          <p:cNvPr id="24" name="Text 21"/>
          <p:cNvSpPr/>
          <p:nvPr/>
        </p:nvSpPr>
        <p:spPr>
          <a:xfrm>
            <a:off x="6419088" y="21671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25" name="Text 22"/>
          <p:cNvSpPr/>
          <p:nvPr/>
        </p:nvSpPr>
        <p:spPr>
          <a:xfrm>
            <a:off x="7040880" y="220370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Detect</a:t>
            </a:r>
            <a:endParaRPr lang="en-US" sz="1600" dirty="0"/>
          </a:p>
        </p:txBody>
      </p:sp>
      <p:sp>
        <p:nvSpPr>
          <p:cNvPr id="26" name="Text 23"/>
          <p:cNvSpPr/>
          <p:nvPr/>
        </p:nvSpPr>
        <p:spPr>
          <a:xfrm>
            <a:off x="6473952" y="275234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z-score / IQR anomaly flags</a:t>
            </a:r>
            <a:endParaRPr lang="en-US" sz="1150" dirty="0"/>
          </a:p>
        </p:txBody>
      </p:sp>
      <p:sp>
        <p:nvSpPr>
          <p:cNvPr id="27" name="Shape 24"/>
          <p:cNvSpPr/>
          <p:nvPr/>
        </p:nvSpPr>
        <p:spPr>
          <a:xfrm>
            <a:off x="8823960" y="2674620"/>
            <a:ext cx="210312" cy="0"/>
          </a:xfrm>
          <a:prstGeom prst="line">
            <a:avLst/>
          </a:prstGeom>
          <a:noFill/>
          <a:ln w="25400">
            <a:solidFill>
              <a:srgbClr val="CBD5E1"/>
            </a:solidFill>
            <a:prstDash val="solid"/>
            <a:tailEnd type="triangle"/>
          </a:ln>
        </p:spPr>
      </p:sp>
      <p:sp>
        <p:nvSpPr>
          <p:cNvPr id="28" name="Shape 25"/>
          <p:cNvSpPr/>
          <p:nvPr/>
        </p:nvSpPr>
        <p:spPr>
          <a:xfrm>
            <a:off x="9052560" y="196596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9" name="Shape 26"/>
          <p:cNvSpPr/>
          <p:nvPr/>
        </p:nvSpPr>
        <p:spPr>
          <a:xfrm>
            <a:off x="9052560" y="1965960"/>
            <a:ext cx="64008" cy="1417320"/>
          </a:xfrm>
          <a:prstGeom prst="rect">
            <a:avLst/>
          </a:prstGeom>
          <a:solidFill>
            <a:srgbClr val="0D9488"/>
          </a:solidFill>
          <a:ln/>
        </p:spPr>
      </p:sp>
      <p:sp>
        <p:nvSpPr>
          <p:cNvPr id="30" name="Shape 27"/>
          <p:cNvSpPr/>
          <p:nvPr/>
        </p:nvSpPr>
        <p:spPr>
          <a:xfrm>
            <a:off x="9253728" y="2167128"/>
            <a:ext cx="502920" cy="502920"/>
          </a:xfrm>
          <a:prstGeom prst="ellipse">
            <a:avLst/>
          </a:prstGeom>
          <a:solidFill>
            <a:srgbClr val="0D9488"/>
          </a:solidFill>
          <a:ln/>
        </p:spPr>
      </p:sp>
      <p:sp>
        <p:nvSpPr>
          <p:cNvPr id="31" name="Text 28"/>
          <p:cNvSpPr/>
          <p:nvPr/>
        </p:nvSpPr>
        <p:spPr>
          <a:xfrm>
            <a:off x="9253728" y="216712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4</a:t>
            </a:r>
            <a:endParaRPr lang="en-US" sz="1800" dirty="0"/>
          </a:p>
        </p:txBody>
      </p:sp>
      <p:sp>
        <p:nvSpPr>
          <p:cNvPr id="32" name="Text 29"/>
          <p:cNvSpPr/>
          <p:nvPr/>
        </p:nvSpPr>
        <p:spPr>
          <a:xfrm>
            <a:off x="9875520" y="220370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Analyze</a:t>
            </a:r>
            <a:endParaRPr lang="en-US" sz="1600" dirty="0"/>
          </a:p>
        </p:txBody>
      </p:sp>
      <p:sp>
        <p:nvSpPr>
          <p:cNvPr id="33" name="Text 30"/>
          <p:cNvSpPr/>
          <p:nvPr/>
        </p:nvSpPr>
        <p:spPr>
          <a:xfrm>
            <a:off x="9308592" y="275234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EXPLAIN + LLM / heuristics</a:t>
            </a:r>
            <a:endParaRPr lang="en-US" sz="1150" dirty="0"/>
          </a:p>
        </p:txBody>
      </p:sp>
      <p:sp>
        <p:nvSpPr>
          <p:cNvPr id="34" name="Shape 31"/>
          <p:cNvSpPr/>
          <p:nvPr/>
        </p:nvSpPr>
        <p:spPr>
          <a:xfrm>
            <a:off x="548640" y="388620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5" name="Shape 32"/>
          <p:cNvSpPr/>
          <p:nvPr/>
        </p:nvSpPr>
        <p:spPr>
          <a:xfrm>
            <a:off x="548640" y="3886200"/>
            <a:ext cx="64008" cy="1417320"/>
          </a:xfrm>
          <a:prstGeom prst="rect">
            <a:avLst/>
          </a:prstGeom>
          <a:solidFill>
            <a:srgbClr val="0D9488"/>
          </a:solidFill>
          <a:ln/>
        </p:spPr>
      </p:sp>
      <p:sp>
        <p:nvSpPr>
          <p:cNvPr id="36" name="Shape 33"/>
          <p:cNvSpPr/>
          <p:nvPr/>
        </p:nvSpPr>
        <p:spPr>
          <a:xfrm>
            <a:off x="749808" y="4087368"/>
            <a:ext cx="502920" cy="502920"/>
          </a:xfrm>
          <a:prstGeom prst="ellipse">
            <a:avLst/>
          </a:prstGeom>
          <a:solidFill>
            <a:srgbClr val="0D9488"/>
          </a:solidFill>
          <a:ln/>
        </p:spPr>
      </p:sp>
      <p:sp>
        <p:nvSpPr>
          <p:cNvPr id="37" name="Text 34"/>
          <p:cNvSpPr/>
          <p:nvPr/>
        </p:nvSpPr>
        <p:spPr>
          <a:xfrm>
            <a:off x="749808" y="40873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5</a:t>
            </a:r>
            <a:endParaRPr lang="en-US" sz="1800" dirty="0"/>
          </a:p>
        </p:txBody>
      </p:sp>
      <p:sp>
        <p:nvSpPr>
          <p:cNvPr id="38" name="Text 35"/>
          <p:cNvSpPr/>
          <p:nvPr/>
        </p:nvSpPr>
        <p:spPr>
          <a:xfrm>
            <a:off x="1371600" y="412394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Propose</a:t>
            </a:r>
            <a:endParaRPr lang="en-US" sz="1600" dirty="0"/>
          </a:p>
        </p:txBody>
      </p:sp>
      <p:sp>
        <p:nvSpPr>
          <p:cNvPr id="39" name="Text 36"/>
          <p:cNvSpPr/>
          <p:nvPr/>
        </p:nvSpPr>
        <p:spPr>
          <a:xfrm>
            <a:off x="804672" y="467258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Index, rewrite, config change</a:t>
            </a:r>
            <a:endParaRPr lang="en-US" sz="1150" dirty="0"/>
          </a:p>
        </p:txBody>
      </p:sp>
      <p:sp>
        <p:nvSpPr>
          <p:cNvPr id="40" name="Shape 37"/>
          <p:cNvSpPr/>
          <p:nvPr/>
        </p:nvSpPr>
        <p:spPr>
          <a:xfrm>
            <a:off x="3154680" y="4594860"/>
            <a:ext cx="210312" cy="0"/>
          </a:xfrm>
          <a:prstGeom prst="line">
            <a:avLst/>
          </a:prstGeom>
          <a:noFill/>
          <a:ln w="25400">
            <a:solidFill>
              <a:srgbClr val="CBD5E1"/>
            </a:solidFill>
            <a:prstDash val="solid"/>
            <a:tailEnd type="triangle"/>
          </a:ln>
        </p:spPr>
      </p:sp>
      <p:sp>
        <p:nvSpPr>
          <p:cNvPr id="41" name="Shape 38"/>
          <p:cNvSpPr/>
          <p:nvPr/>
        </p:nvSpPr>
        <p:spPr>
          <a:xfrm>
            <a:off x="3383280" y="388620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42" name="Shape 39"/>
          <p:cNvSpPr/>
          <p:nvPr/>
        </p:nvSpPr>
        <p:spPr>
          <a:xfrm>
            <a:off x="3383280" y="3886200"/>
            <a:ext cx="64008" cy="1417320"/>
          </a:xfrm>
          <a:prstGeom prst="rect">
            <a:avLst/>
          </a:prstGeom>
          <a:solidFill>
            <a:srgbClr val="0D9488"/>
          </a:solidFill>
          <a:ln/>
        </p:spPr>
      </p:sp>
      <p:sp>
        <p:nvSpPr>
          <p:cNvPr id="43" name="Shape 40"/>
          <p:cNvSpPr/>
          <p:nvPr/>
        </p:nvSpPr>
        <p:spPr>
          <a:xfrm>
            <a:off x="3584448" y="4087368"/>
            <a:ext cx="502920" cy="502920"/>
          </a:xfrm>
          <a:prstGeom prst="ellipse">
            <a:avLst/>
          </a:prstGeom>
          <a:solidFill>
            <a:srgbClr val="0D9488"/>
          </a:solidFill>
          <a:ln/>
        </p:spPr>
      </p:sp>
      <p:sp>
        <p:nvSpPr>
          <p:cNvPr id="44" name="Text 41"/>
          <p:cNvSpPr/>
          <p:nvPr/>
        </p:nvSpPr>
        <p:spPr>
          <a:xfrm>
            <a:off x="3584448" y="40873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6</a:t>
            </a:r>
            <a:endParaRPr lang="en-US" sz="1800" dirty="0"/>
          </a:p>
        </p:txBody>
      </p:sp>
      <p:sp>
        <p:nvSpPr>
          <p:cNvPr id="45" name="Text 42"/>
          <p:cNvSpPr/>
          <p:nvPr/>
        </p:nvSpPr>
        <p:spPr>
          <a:xfrm>
            <a:off x="4206240" y="412394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Replay</a:t>
            </a:r>
            <a:endParaRPr lang="en-US" sz="1600" dirty="0"/>
          </a:p>
        </p:txBody>
      </p:sp>
      <p:sp>
        <p:nvSpPr>
          <p:cNvPr id="46" name="Text 43"/>
          <p:cNvSpPr/>
          <p:nvPr/>
        </p:nvSpPr>
        <p:spPr>
          <a:xfrm>
            <a:off x="3639312" y="467258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Test on shadow DB, measure delta</a:t>
            </a:r>
            <a:endParaRPr lang="en-US" sz="1150" dirty="0"/>
          </a:p>
        </p:txBody>
      </p:sp>
      <p:sp>
        <p:nvSpPr>
          <p:cNvPr id="47" name="Shape 44"/>
          <p:cNvSpPr/>
          <p:nvPr/>
        </p:nvSpPr>
        <p:spPr>
          <a:xfrm>
            <a:off x="5989320" y="4594860"/>
            <a:ext cx="210312" cy="0"/>
          </a:xfrm>
          <a:prstGeom prst="line">
            <a:avLst/>
          </a:prstGeom>
          <a:noFill/>
          <a:ln w="25400">
            <a:solidFill>
              <a:srgbClr val="CBD5E1"/>
            </a:solidFill>
            <a:prstDash val="solid"/>
            <a:tailEnd type="triangle"/>
          </a:ln>
        </p:spPr>
      </p:sp>
      <p:sp>
        <p:nvSpPr>
          <p:cNvPr id="48" name="Shape 45"/>
          <p:cNvSpPr/>
          <p:nvPr/>
        </p:nvSpPr>
        <p:spPr>
          <a:xfrm>
            <a:off x="6217920" y="388620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49" name="Shape 46"/>
          <p:cNvSpPr/>
          <p:nvPr/>
        </p:nvSpPr>
        <p:spPr>
          <a:xfrm>
            <a:off x="6217920" y="3886200"/>
            <a:ext cx="64008" cy="1417320"/>
          </a:xfrm>
          <a:prstGeom prst="rect">
            <a:avLst/>
          </a:prstGeom>
          <a:solidFill>
            <a:srgbClr val="0D9488"/>
          </a:solidFill>
          <a:ln/>
        </p:spPr>
      </p:sp>
      <p:sp>
        <p:nvSpPr>
          <p:cNvPr id="50" name="Shape 47"/>
          <p:cNvSpPr/>
          <p:nvPr/>
        </p:nvSpPr>
        <p:spPr>
          <a:xfrm>
            <a:off x="6419088" y="4087368"/>
            <a:ext cx="502920" cy="502920"/>
          </a:xfrm>
          <a:prstGeom prst="ellipse">
            <a:avLst/>
          </a:prstGeom>
          <a:solidFill>
            <a:srgbClr val="0D9488"/>
          </a:solidFill>
          <a:ln/>
        </p:spPr>
      </p:sp>
      <p:sp>
        <p:nvSpPr>
          <p:cNvPr id="51" name="Text 48"/>
          <p:cNvSpPr/>
          <p:nvPr/>
        </p:nvSpPr>
        <p:spPr>
          <a:xfrm>
            <a:off x="6419088" y="40873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7</a:t>
            </a:r>
            <a:endParaRPr lang="en-US" sz="1800" dirty="0"/>
          </a:p>
        </p:txBody>
      </p:sp>
      <p:sp>
        <p:nvSpPr>
          <p:cNvPr id="52" name="Text 49"/>
          <p:cNvSpPr/>
          <p:nvPr/>
        </p:nvSpPr>
        <p:spPr>
          <a:xfrm>
            <a:off x="7040880" y="412394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Approve</a:t>
            </a:r>
            <a:endParaRPr lang="en-US" sz="1600" dirty="0"/>
          </a:p>
        </p:txBody>
      </p:sp>
      <p:sp>
        <p:nvSpPr>
          <p:cNvPr id="53" name="Text 50"/>
          <p:cNvSpPr/>
          <p:nvPr/>
        </p:nvSpPr>
        <p:spPr>
          <a:xfrm>
            <a:off x="6473952" y="467258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Human reviews &amp; signs off</a:t>
            </a:r>
            <a:endParaRPr lang="en-US" sz="1150" dirty="0"/>
          </a:p>
        </p:txBody>
      </p:sp>
      <p:sp>
        <p:nvSpPr>
          <p:cNvPr id="54" name="Shape 51"/>
          <p:cNvSpPr/>
          <p:nvPr/>
        </p:nvSpPr>
        <p:spPr>
          <a:xfrm>
            <a:off x="8823960" y="4594860"/>
            <a:ext cx="210312" cy="0"/>
          </a:xfrm>
          <a:prstGeom prst="line">
            <a:avLst/>
          </a:prstGeom>
          <a:noFill/>
          <a:ln w="25400">
            <a:solidFill>
              <a:srgbClr val="CBD5E1"/>
            </a:solidFill>
            <a:prstDash val="solid"/>
            <a:tailEnd type="triangle"/>
          </a:ln>
        </p:spPr>
      </p:sp>
      <p:sp>
        <p:nvSpPr>
          <p:cNvPr id="55" name="Shape 52"/>
          <p:cNvSpPr/>
          <p:nvPr/>
        </p:nvSpPr>
        <p:spPr>
          <a:xfrm>
            <a:off x="9052560" y="3886200"/>
            <a:ext cx="2587752" cy="141732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56" name="Shape 53"/>
          <p:cNvSpPr/>
          <p:nvPr/>
        </p:nvSpPr>
        <p:spPr>
          <a:xfrm>
            <a:off x="9052560" y="3886200"/>
            <a:ext cx="64008" cy="1417320"/>
          </a:xfrm>
          <a:prstGeom prst="rect">
            <a:avLst/>
          </a:prstGeom>
          <a:solidFill>
            <a:srgbClr val="0D9488"/>
          </a:solidFill>
          <a:ln/>
        </p:spPr>
      </p:sp>
      <p:sp>
        <p:nvSpPr>
          <p:cNvPr id="57" name="Shape 54"/>
          <p:cNvSpPr/>
          <p:nvPr/>
        </p:nvSpPr>
        <p:spPr>
          <a:xfrm>
            <a:off x="9253728" y="4087368"/>
            <a:ext cx="502920" cy="502920"/>
          </a:xfrm>
          <a:prstGeom prst="ellipse">
            <a:avLst/>
          </a:prstGeom>
          <a:solidFill>
            <a:srgbClr val="0D9488"/>
          </a:solidFill>
          <a:ln/>
        </p:spPr>
      </p:sp>
      <p:sp>
        <p:nvSpPr>
          <p:cNvPr id="58" name="Text 55"/>
          <p:cNvSpPr/>
          <p:nvPr/>
        </p:nvSpPr>
        <p:spPr>
          <a:xfrm>
            <a:off x="9253728" y="408736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8</a:t>
            </a:r>
            <a:endParaRPr lang="en-US" sz="1800" dirty="0"/>
          </a:p>
        </p:txBody>
      </p:sp>
      <p:sp>
        <p:nvSpPr>
          <p:cNvPr id="59" name="Text 56"/>
          <p:cNvSpPr/>
          <p:nvPr/>
        </p:nvSpPr>
        <p:spPr>
          <a:xfrm>
            <a:off x="9875520" y="4123944"/>
            <a:ext cx="1673352" cy="4114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Deploy</a:t>
            </a:r>
            <a:endParaRPr lang="en-US" sz="1600" dirty="0"/>
          </a:p>
        </p:txBody>
      </p:sp>
      <p:sp>
        <p:nvSpPr>
          <p:cNvPr id="60" name="Text 57"/>
          <p:cNvSpPr/>
          <p:nvPr/>
        </p:nvSpPr>
        <p:spPr>
          <a:xfrm>
            <a:off x="9308592" y="4672584"/>
            <a:ext cx="2130552" cy="5486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Apply + watch, auto-rollback</a:t>
            </a:r>
            <a:endParaRPr lang="en-US" sz="1150" dirty="0"/>
          </a:p>
        </p:txBody>
      </p:sp>
      <p:sp>
        <p:nvSpPr>
          <p:cNvPr id="61" name="Shape 58"/>
          <p:cNvSpPr/>
          <p:nvPr/>
        </p:nvSpPr>
        <p:spPr>
          <a:xfrm>
            <a:off x="10346436" y="3429000"/>
            <a:ext cx="0" cy="411480"/>
          </a:xfrm>
          <a:prstGeom prst="line">
            <a:avLst/>
          </a:prstGeom>
          <a:noFill/>
          <a:ln w="25400">
            <a:solidFill>
              <a:srgbClr val="CBD5E1"/>
            </a:solidFill>
            <a:prstDash val="solid"/>
            <a:tailEnd type="triangle"/>
          </a:ln>
        </p:spPr>
      </p:sp>
      <p:sp>
        <p:nvSpPr>
          <p:cNvPr id="62" name="Shape 59"/>
          <p:cNvSpPr/>
          <p:nvPr/>
        </p:nvSpPr>
        <p:spPr>
          <a:xfrm>
            <a:off x="548640" y="5897880"/>
            <a:ext cx="11091672" cy="384048"/>
          </a:xfrm>
          <a:prstGeom prst="rect">
            <a:avLst/>
          </a:prstGeom>
          <a:solidFill>
            <a:srgbClr val="F8FAFC"/>
          </a:solidFill>
          <a:ln w="12700">
            <a:solidFill>
              <a:srgbClr val="E2E8F0"/>
            </a:solidFill>
            <a:prstDash val="solid"/>
          </a:ln>
        </p:spPr>
      </p:sp>
      <p:sp>
        <p:nvSpPr>
          <p:cNvPr id="63" name="Text 60"/>
          <p:cNvSpPr/>
          <p:nvPr/>
        </p:nvSpPr>
        <p:spPr>
          <a:xfrm>
            <a:off x="548640" y="5897880"/>
            <a:ext cx="11091672" cy="384048"/>
          </a:xfrm>
          <a:prstGeom prst="rect">
            <a:avLst/>
          </a:prstGeom>
          <a:noFill/>
          <a:ln/>
        </p:spPr>
        <p:txBody>
          <a:bodyPr wrap="square" lIns="0" tIns="0" rIns="0" bIns="0" rtlCol="0" anchor="ctr"/>
          <a:lstStyle/>
          <a:p>
            <a:pPr algn="ctr" indent="0" marL="0">
              <a:buNone/>
            </a:pPr>
            <a:r>
              <a:rPr lang="en-US" sz="1300" b="1" dirty="0">
                <a:solidFill>
                  <a:srgbClr val="0D9488"/>
                </a:solidFill>
                <a:latin typeface="Calibri" pitchFamily="34" charset="0"/>
                <a:ea typeface="Calibri" pitchFamily="34" charset="-122"/>
                <a:cs typeface="Calibri" pitchFamily="34" charset="-120"/>
              </a:rPr>
              <a:t>Safety rails:  </a:t>
            </a:r>
            <a:pPr algn="ctr" indent="0" marL="0">
              <a:buNone/>
            </a:pPr>
            <a:r>
              <a:rPr lang="en-US" sz="1300" dirty="0">
                <a:solidFill>
                  <a:srgbClr val="334155"/>
                </a:solidFill>
                <a:latin typeface="Calibri" pitchFamily="34" charset="0"/>
                <a:ea typeface="Calibri" pitchFamily="34" charset="-122"/>
                <a:cs typeface="Calibri" pitchFamily="34" charset="-120"/>
              </a:rPr>
              <a:t>every destructive change needs approval · full immutable audit trail · automatic rollback if p99 regresses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INFRASTRUCTURE</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One command brings up the whole stack</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pic>
        <p:nvPicPr>
          <p:cNvPr id="7" name="Image 0" descr="images/infra_topology.png">    </p:cNvPr>
          <p:cNvPicPr>
            <a:picLocks noChangeAspect="1"/>
          </p:cNvPicPr>
          <p:nvPr/>
        </p:nvPicPr>
        <p:blipFill>
          <a:blip r:embed="rId1"/>
          <a:srcRect l="0" r="0" t="0" b="0"/>
          <a:stretch/>
        </p:blipFill>
        <p:spPr>
          <a:xfrm>
            <a:off x="502920" y="1783080"/>
            <a:ext cx="7635240" cy="4206240"/>
          </a:xfrm>
          <a:prstGeom prst="rect">
            <a:avLst/>
          </a:prstGeom>
        </p:spPr>
      </p:pic>
      <p:sp>
        <p:nvSpPr>
          <p:cNvPr id="8" name="Shape 4"/>
          <p:cNvSpPr/>
          <p:nvPr/>
        </p:nvSpPr>
        <p:spPr>
          <a:xfrm>
            <a:off x="8366760" y="1828800"/>
            <a:ext cx="3291840" cy="98755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9" name="Shape 5"/>
          <p:cNvSpPr/>
          <p:nvPr/>
        </p:nvSpPr>
        <p:spPr>
          <a:xfrm>
            <a:off x="8366760" y="1828800"/>
            <a:ext cx="64008" cy="987552"/>
          </a:xfrm>
          <a:prstGeom prst="rect">
            <a:avLst/>
          </a:prstGeom>
          <a:solidFill>
            <a:srgbClr val="0D9488"/>
          </a:solidFill>
          <a:ln/>
        </p:spPr>
      </p:sp>
      <p:sp>
        <p:nvSpPr>
          <p:cNvPr id="10" name="Shape 6"/>
          <p:cNvSpPr/>
          <p:nvPr/>
        </p:nvSpPr>
        <p:spPr>
          <a:xfrm>
            <a:off x="8549640" y="2057400"/>
            <a:ext cx="530352" cy="530352"/>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11" name="Image 1" descr="images/icons/terminal.png">    </p:cNvPr>
          <p:cNvPicPr>
            <a:picLocks noChangeAspect="1"/>
          </p:cNvPicPr>
          <p:nvPr/>
        </p:nvPicPr>
        <p:blipFill>
          <a:blip r:embed="rId2"/>
          <a:stretch>
            <a:fillRect/>
          </a:stretch>
        </p:blipFill>
        <p:spPr>
          <a:xfrm>
            <a:off x="8676924" y="2184684"/>
            <a:ext cx="275783" cy="275783"/>
          </a:xfrm>
          <a:prstGeom prst="rect">
            <a:avLst/>
          </a:prstGeom>
        </p:spPr>
      </p:pic>
      <p:sp>
        <p:nvSpPr>
          <p:cNvPr id="12" name="Text 7"/>
          <p:cNvSpPr/>
          <p:nvPr/>
        </p:nvSpPr>
        <p:spPr>
          <a:xfrm>
            <a:off x="9235440" y="1993392"/>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docker compose up --build</a:t>
            </a:r>
            <a:endParaRPr lang="en-US" sz="1350" dirty="0"/>
          </a:p>
        </p:txBody>
      </p:sp>
      <p:sp>
        <p:nvSpPr>
          <p:cNvPr id="13" name="Text 8"/>
          <p:cNvSpPr/>
          <p:nvPr/>
        </p:nvSpPr>
        <p:spPr>
          <a:xfrm>
            <a:off x="9235440" y="2359152"/>
            <a:ext cx="233172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9 services, one network</a:t>
            </a:r>
            <a:endParaRPr lang="en-US" sz="1100" dirty="0"/>
          </a:p>
        </p:txBody>
      </p:sp>
      <p:sp>
        <p:nvSpPr>
          <p:cNvPr id="14" name="Shape 9"/>
          <p:cNvSpPr/>
          <p:nvPr/>
        </p:nvSpPr>
        <p:spPr>
          <a:xfrm>
            <a:off x="8366760" y="2944368"/>
            <a:ext cx="3291840" cy="98755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5" name="Shape 10"/>
          <p:cNvSpPr/>
          <p:nvPr/>
        </p:nvSpPr>
        <p:spPr>
          <a:xfrm>
            <a:off x="8366760" y="2944368"/>
            <a:ext cx="64008" cy="987552"/>
          </a:xfrm>
          <a:prstGeom prst="rect">
            <a:avLst/>
          </a:prstGeom>
          <a:solidFill>
            <a:srgbClr val="2563EB"/>
          </a:solidFill>
          <a:ln/>
        </p:spPr>
      </p:sp>
      <p:sp>
        <p:nvSpPr>
          <p:cNvPr id="16" name="Shape 11"/>
          <p:cNvSpPr/>
          <p:nvPr/>
        </p:nvSpPr>
        <p:spPr>
          <a:xfrm>
            <a:off x="8549640" y="3172968"/>
            <a:ext cx="530352" cy="530352"/>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17" name="Image 2" descr="images/icons/shield.png">    </p:cNvPr>
          <p:cNvPicPr>
            <a:picLocks noChangeAspect="1"/>
          </p:cNvPicPr>
          <p:nvPr/>
        </p:nvPicPr>
        <p:blipFill>
          <a:blip r:embed="rId3"/>
          <a:stretch>
            <a:fillRect/>
          </a:stretch>
        </p:blipFill>
        <p:spPr>
          <a:xfrm>
            <a:off x="8676924" y="3300252"/>
            <a:ext cx="275783" cy="275783"/>
          </a:xfrm>
          <a:prstGeom prst="rect">
            <a:avLst/>
          </a:prstGeom>
        </p:spPr>
      </p:pic>
      <p:sp>
        <p:nvSpPr>
          <p:cNvPr id="18" name="Text 12"/>
          <p:cNvSpPr/>
          <p:nvPr/>
        </p:nvSpPr>
        <p:spPr>
          <a:xfrm>
            <a:off x="9235440" y="3108960"/>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Degraded-mode startup</a:t>
            </a:r>
            <a:endParaRPr lang="en-US" sz="1350" dirty="0"/>
          </a:p>
        </p:txBody>
      </p:sp>
      <p:sp>
        <p:nvSpPr>
          <p:cNvPr id="19" name="Text 13"/>
          <p:cNvSpPr/>
          <p:nvPr/>
        </p:nvSpPr>
        <p:spPr>
          <a:xfrm>
            <a:off x="9235440" y="3474720"/>
            <a:ext cx="233172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Boots even if a dependency is down</a:t>
            </a:r>
            <a:endParaRPr lang="en-US" sz="1100" dirty="0"/>
          </a:p>
        </p:txBody>
      </p:sp>
      <p:sp>
        <p:nvSpPr>
          <p:cNvPr id="20" name="Shape 14"/>
          <p:cNvSpPr/>
          <p:nvPr/>
        </p:nvSpPr>
        <p:spPr>
          <a:xfrm>
            <a:off x="8366760" y="4059936"/>
            <a:ext cx="3291840" cy="98755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1" name="Shape 15"/>
          <p:cNvSpPr/>
          <p:nvPr/>
        </p:nvSpPr>
        <p:spPr>
          <a:xfrm>
            <a:off x="8366760" y="4059936"/>
            <a:ext cx="64008" cy="987552"/>
          </a:xfrm>
          <a:prstGeom prst="rect">
            <a:avLst/>
          </a:prstGeom>
          <a:solidFill>
            <a:srgbClr val="F59E0B"/>
          </a:solidFill>
          <a:ln/>
        </p:spPr>
      </p:sp>
      <p:sp>
        <p:nvSpPr>
          <p:cNvPr id="22" name="Shape 16"/>
          <p:cNvSpPr/>
          <p:nvPr/>
        </p:nvSpPr>
        <p:spPr>
          <a:xfrm>
            <a:off x="8549640" y="4288536"/>
            <a:ext cx="530352" cy="530352"/>
          </a:xfrm>
          <a:prstGeom prst="ellipse">
            <a:avLst/>
          </a:prstGeom>
          <a:solidFill>
            <a:srgbClr val="F59E0B"/>
          </a:solidFill>
          <a:ln/>
          <a:effectLst>
            <a:outerShdw sx="100000" sy="100000" kx="0" ky="0" algn="bl" rotWithShape="0" blurRad="114300" dist="38100" dir="5400000">
              <a:srgbClr val="94A3B8">
                <a:alpha val="28000"/>
              </a:srgbClr>
            </a:outerShdw>
          </a:effectLst>
        </p:spPr>
      </p:sp>
      <p:pic>
        <p:nvPicPr>
          <p:cNvPr id="23" name="Image 3" descr="images/icons/bolt.png">    </p:cNvPr>
          <p:cNvPicPr>
            <a:picLocks noChangeAspect="1"/>
          </p:cNvPicPr>
          <p:nvPr/>
        </p:nvPicPr>
        <p:blipFill>
          <a:blip r:embed="rId4"/>
          <a:stretch>
            <a:fillRect/>
          </a:stretch>
        </p:blipFill>
        <p:spPr>
          <a:xfrm>
            <a:off x="8676924" y="4415820"/>
            <a:ext cx="275783" cy="275783"/>
          </a:xfrm>
          <a:prstGeom prst="rect">
            <a:avLst/>
          </a:prstGeom>
        </p:spPr>
      </p:pic>
      <p:sp>
        <p:nvSpPr>
          <p:cNvPr id="24" name="Text 17"/>
          <p:cNvSpPr/>
          <p:nvPr/>
        </p:nvSpPr>
        <p:spPr>
          <a:xfrm>
            <a:off x="9235440" y="4224528"/>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Fast frontend</a:t>
            </a:r>
            <a:endParaRPr lang="en-US" sz="1350" dirty="0"/>
          </a:p>
        </p:txBody>
      </p:sp>
      <p:sp>
        <p:nvSpPr>
          <p:cNvPr id="25" name="Text 18"/>
          <p:cNvSpPr/>
          <p:nvPr/>
        </p:nvSpPr>
        <p:spPr>
          <a:xfrm>
            <a:off x="9235440" y="4590288"/>
            <a:ext cx="233172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Nginx gzip + immutable asset caching</a:t>
            </a:r>
            <a:endParaRPr lang="en-US" sz="1100" dirty="0"/>
          </a:p>
        </p:txBody>
      </p:sp>
      <p:sp>
        <p:nvSpPr>
          <p:cNvPr id="26" name="Shape 19"/>
          <p:cNvSpPr/>
          <p:nvPr/>
        </p:nvSpPr>
        <p:spPr>
          <a:xfrm>
            <a:off x="8366760" y="5175504"/>
            <a:ext cx="3291840" cy="987552"/>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7" name="Shape 20"/>
          <p:cNvSpPr/>
          <p:nvPr/>
        </p:nvSpPr>
        <p:spPr>
          <a:xfrm>
            <a:off x="8366760" y="5175504"/>
            <a:ext cx="64008" cy="987552"/>
          </a:xfrm>
          <a:prstGeom prst="rect">
            <a:avLst/>
          </a:prstGeom>
          <a:solidFill>
            <a:srgbClr val="1E3A8A"/>
          </a:solidFill>
          <a:ln/>
        </p:spPr>
      </p:sp>
      <p:sp>
        <p:nvSpPr>
          <p:cNvPr id="28" name="Shape 21"/>
          <p:cNvSpPr/>
          <p:nvPr/>
        </p:nvSpPr>
        <p:spPr>
          <a:xfrm>
            <a:off x="8549640" y="5404104"/>
            <a:ext cx="530352" cy="530352"/>
          </a:xfrm>
          <a:prstGeom prst="ellipse">
            <a:avLst/>
          </a:prstGeom>
          <a:solidFill>
            <a:srgbClr val="1E3A8A"/>
          </a:solidFill>
          <a:ln/>
          <a:effectLst>
            <a:outerShdw sx="100000" sy="100000" kx="0" ky="0" algn="bl" rotWithShape="0" blurRad="114300" dist="38100" dir="5400000">
              <a:srgbClr val="94A3B8">
                <a:alpha val="28000"/>
              </a:srgbClr>
            </a:outerShdw>
          </a:effectLst>
        </p:spPr>
      </p:sp>
      <p:pic>
        <p:nvPicPr>
          <p:cNvPr id="29" name="Image 4" descr="images/icons/db.png">    </p:cNvPr>
          <p:cNvPicPr>
            <a:picLocks noChangeAspect="1"/>
          </p:cNvPicPr>
          <p:nvPr/>
        </p:nvPicPr>
        <p:blipFill>
          <a:blip r:embed="rId5"/>
          <a:stretch>
            <a:fillRect/>
          </a:stretch>
        </p:blipFill>
        <p:spPr>
          <a:xfrm>
            <a:off x="8676924" y="5531388"/>
            <a:ext cx="275783" cy="275783"/>
          </a:xfrm>
          <a:prstGeom prst="rect">
            <a:avLst/>
          </a:prstGeom>
        </p:spPr>
      </p:pic>
      <p:sp>
        <p:nvSpPr>
          <p:cNvPr id="30" name="Text 22"/>
          <p:cNvSpPr/>
          <p:nvPr/>
        </p:nvSpPr>
        <p:spPr>
          <a:xfrm>
            <a:off x="9235440" y="5340096"/>
            <a:ext cx="2331720" cy="365760"/>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Configurable dataset</a:t>
            </a:r>
            <a:endParaRPr lang="en-US" sz="1350" dirty="0"/>
          </a:p>
        </p:txBody>
      </p:sp>
      <p:sp>
        <p:nvSpPr>
          <p:cNvPr id="31" name="Text 23"/>
          <p:cNvSpPr/>
          <p:nvPr/>
        </p:nvSpPr>
        <p:spPr>
          <a:xfrm>
            <a:off x="9235440" y="5705856"/>
            <a:ext cx="2331720" cy="3657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SEED_* env · 15.5M → 100M+ rows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FRONTEND · DASHBOARD &amp; UI</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Live operational visibility</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
        <p:nvSpPr>
          <p:cNvPr id="7" name="Shape 4"/>
          <p:cNvSpPr/>
          <p:nvPr/>
        </p:nvSpPr>
        <p:spPr>
          <a:xfrm>
            <a:off x="502920" y="1783080"/>
            <a:ext cx="7040880" cy="4160520"/>
          </a:xfrm>
          <a:prstGeom prst="rect">
            <a:avLst/>
          </a:prstGeom>
          <a:solidFill>
            <a:srgbClr val="0B1B3B"/>
          </a:solidFill>
          <a:ln/>
          <a:effectLst>
            <a:outerShdw sx="100000" sy="100000" kx="0" ky="0" algn="bl" rotWithShape="0" blurRad="114300" dist="38100" dir="5400000">
              <a:srgbClr val="94A3B8">
                <a:alpha val="28000"/>
              </a:srgbClr>
            </a:outerShdw>
          </a:effectLst>
        </p:spPr>
      </p:sp>
      <p:pic>
        <p:nvPicPr>
          <p:cNvPr id="8" name="Image 0" descr="images/dashboard_mockup.png">    </p:cNvPr>
          <p:cNvPicPr>
            <a:picLocks noChangeAspect="1"/>
          </p:cNvPicPr>
          <p:nvPr/>
        </p:nvPicPr>
        <p:blipFill>
          <a:blip r:embed="rId1"/>
          <a:srcRect l="0" r="0" t="0" b="0"/>
          <a:stretch/>
        </p:blipFill>
        <p:spPr>
          <a:xfrm>
            <a:off x="566928" y="1847088"/>
            <a:ext cx="6912864" cy="4032504"/>
          </a:xfrm>
          <a:prstGeom prst="rect">
            <a:avLst/>
          </a:prstGeom>
        </p:spPr>
      </p:pic>
      <p:sp>
        <p:nvSpPr>
          <p:cNvPr id="9" name="Shape 5"/>
          <p:cNvSpPr/>
          <p:nvPr/>
        </p:nvSpPr>
        <p:spPr>
          <a:xfrm>
            <a:off x="7772400" y="181051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0" name="Shape 6"/>
          <p:cNvSpPr/>
          <p:nvPr/>
        </p:nvSpPr>
        <p:spPr>
          <a:xfrm>
            <a:off x="7772400" y="1810512"/>
            <a:ext cx="64008" cy="676656"/>
          </a:xfrm>
          <a:prstGeom prst="rect">
            <a:avLst/>
          </a:prstGeom>
          <a:solidFill>
            <a:srgbClr val="0D9488"/>
          </a:solidFill>
          <a:ln/>
        </p:spPr>
      </p:sp>
      <p:sp>
        <p:nvSpPr>
          <p:cNvPr id="11" name="Shape 7"/>
          <p:cNvSpPr/>
          <p:nvPr/>
        </p:nvSpPr>
        <p:spPr>
          <a:xfrm>
            <a:off x="7918704" y="1956816"/>
            <a:ext cx="384048" cy="384048"/>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12" name="Image 1" descr="images/icons/gauge.png">    </p:cNvPr>
          <p:cNvPicPr>
            <a:picLocks noChangeAspect="1"/>
          </p:cNvPicPr>
          <p:nvPr/>
        </p:nvPicPr>
        <p:blipFill>
          <a:blip r:embed="rId2"/>
          <a:stretch>
            <a:fillRect/>
          </a:stretch>
        </p:blipFill>
        <p:spPr>
          <a:xfrm>
            <a:off x="8010876" y="2048988"/>
            <a:ext cx="199705" cy="199705"/>
          </a:xfrm>
          <a:prstGeom prst="rect">
            <a:avLst/>
          </a:prstGeom>
        </p:spPr>
      </p:pic>
      <p:sp>
        <p:nvSpPr>
          <p:cNvPr id="13" name="Text 8"/>
          <p:cNvSpPr/>
          <p:nvPr/>
        </p:nvSpPr>
        <p:spPr>
          <a:xfrm>
            <a:off x="8449056" y="190195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Dashboard</a:t>
            </a:r>
            <a:endParaRPr lang="en-US" sz="1300" dirty="0"/>
          </a:p>
        </p:txBody>
      </p:sp>
      <p:sp>
        <p:nvSpPr>
          <p:cNvPr id="14" name="Text 9"/>
          <p:cNvSpPr/>
          <p:nvPr/>
        </p:nvSpPr>
        <p:spPr>
          <a:xfrm>
            <a:off x="8449056" y="217627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Live KPIs &amp; charts via SSE</a:t>
            </a:r>
            <a:endParaRPr lang="en-US" sz="1050" dirty="0"/>
          </a:p>
        </p:txBody>
      </p:sp>
      <p:sp>
        <p:nvSpPr>
          <p:cNvPr id="15" name="Shape 10"/>
          <p:cNvSpPr/>
          <p:nvPr/>
        </p:nvSpPr>
        <p:spPr>
          <a:xfrm>
            <a:off x="7772400" y="256489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6" name="Shape 11"/>
          <p:cNvSpPr/>
          <p:nvPr/>
        </p:nvSpPr>
        <p:spPr>
          <a:xfrm>
            <a:off x="7772400" y="2564892"/>
            <a:ext cx="64008" cy="676656"/>
          </a:xfrm>
          <a:prstGeom prst="rect">
            <a:avLst/>
          </a:prstGeom>
          <a:solidFill>
            <a:srgbClr val="2563EB"/>
          </a:solidFill>
          <a:ln/>
        </p:spPr>
      </p:sp>
      <p:sp>
        <p:nvSpPr>
          <p:cNvPr id="17" name="Shape 12"/>
          <p:cNvSpPr/>
          <p:nvPr/>
        </p:nvSpPr>
        <p:spPr>
          <a:xfrm>
            <a:off x="7918704" y="2711196"/>
            <a:ext cx="384048" cy="384048"/>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18" name="Image 2" descr="images/icons/search.png">    </p:cNvPr>
          <p:cNvPicPr>
            <a:picLocks noChangeAspect="1"/>
          </p:cNvPicPr>
          <p:nvPr/>
        </p:nvPicPr>
        <p:blipFill>
          <a:blip r:embed="rId3"/>
          <a:stretch>
            <a:fillRect/>
          </a:stretch>
        </p:blipFill>
        <p:spPr>
          <a:xfrm>
            <a:off x="8010876" y="2803368"/>
            <a:ext cx="199705" cy="199705"/>
          </a:xfrm>
          <a:prstGeom prst="rect">
            <a:avLst/>
          </a:prstGeom>
        </p:spPr>
      </p:pic>
      <p:sp>
        <p:nvSpPr>
          <p:cNvPr id="19" name="Text 13"/>
          <p:cNvSpPr/>
          <p:nvPr/>
        </p:nvSpPr>
        <p:spPr>
          <a:xfrm>
            <a:off x="8449056" y="265633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Slow Queries</a:t>
            </a:r>
            <a:endParaRPr lang="en-US" sz="1300" dirty="0"/>
          </a:p>
        </p:txBody>
      </p:sp>
      <p:sp>
        <p:nvSpPr>
          <p:cNvPr id="20" name="Text 14"/>
          <p:cNvSpPr/>
          <p:nvPr/>
        </p:nvSpPr>
        <p:spPr>
          <a:xfrm>
            <a:off x="8449056" y="293065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Top-N with one-click Optimize</a:t>
            </a:r>
            <a:endParaRPr lang="en-US" sz="1050" dirty="0"/>
          </a:p>
        </p:txBody>
      </p:sp>
      <p:sp>
        <p:nvSpPr>
          <p:cNvPr id="21" name="Shape 15"/>
          <p:cNvSpPr/>
          <p:nvPr/>
        </p:nvSpPr>
        <p:spPr>
          <a:xfrm>
            <a:off x="7772400" y="331927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2" name="Shape 16"/>
          <p:cNvSpPr/>
          <p:nvPr/>
        </p:nvSpPr>
        <p:spPr>
          <a:xfrm>
            <a:off x="7772400" y="3319272"/>
            <a:ext cx="64008" cy="676656"/>
          </a:xfrm>
          <a:prstGeom prst="rect">
            <a:avLst/>
          </a:prstGeom>
          <a:solidFill>
            <a:srgbClr val="7C3AED"/>
          </a:solidFill>
          <a:ln/>
        </p:spPr>
      </p:sp>
      <p:sp>
        <p:nvSpPr>
          <p:cNvPr id="23" name="Shape 17"/>
          <p:cNvSpPr/>
          <p:nvPr/>
        </p:nvSpPr>
        <p:spPr>
          <a:xfrm>
            <a:off x="7918704" y="3465576"/>
            <a:ext cx="384048" cy="384048"/>
          </a:xfrm>
          <a:prstGeom prst="ellipse">
            <a:avLst/>
          </a:prstGeom>
          <a:solidFill>
            <a:srgbClr val="7C3AED"/>
          </a:solidFill>
          <a:ln/>
          <a:effectLst>
            <a:outerShdw sx="100000" sy="100000" kx="0" ky="0" algn="bl" rotWithShape="0" blurRad="114300" dist="38100" dir="5400000">
              <a:srgbClr val="94A3B8">
                <a:alpha val="28000"/>
              </a:srgbClr>
            </a:outerShdw>
          </a:effectLst>
        </p:spPr>
      </p:sp>
      <p:pic>
        <p:nvPicPr>
          <p:cNvPr id="24" name="Image 3" descr="images/icons/spark.png">    </p:cNvPr>
          <p:cNvPicPr>
            <a:picLocks noChangeAspect="1"/>
          </p:cNvPicPr>
          <p:nvPr/>
        </p:nvPicPr>
        <p:blipFill>
          <a:blip r:embed="rId4"/>
          <a:stretch>
            <a:fillRect/>
          </a:stretch>
        </p:blipFill>
        <p:spPr>
          <a:xfrm>
            <a:off x="8010876" y="3557748"/>
            <a:ext cx="199705" cy="199705"/>
          </a:xfrm>
          <a:prstGeom prst="rect">
            <a:avLst/>
          </a:prstGeom>
        </p:spPr>
      </p:pic>
      <p:sp>
        <p:nvSpPr>
          <p:cNvPr id="25" name="Text 18"/>
          <p:cNvSpPr/>
          <p:nvPr/>
        </p:nvSpPr>
        <p:spPr>
          <a:xfrm>
            <a:off x="8449056" y="341071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Optimizations</a:t>
            </a:r>
            <a:endParaRPr lang="en-US" sz="1300" dirty="0"/>
          </a:p>
        </p:txBody>
      </p:sp>
      <p:sp>
        <p:nvSpPr>
          <p:cNvPr id="26" name="Text 19"/>
          <p:cNvSpPr/>
          <p:nvPr/>
        </p:nvSpPr>
        <p:spPr>
          <a:xfrm>
            <a:off x="8449056" y="368503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Side-by-side review &amp; approve</a:t>
            </a:r>
            <a:endParaRPr lang="en-US" sz="1050" dirty="0"/>
          </a:p>
        </p:txBody>
      </p:sp>
      <p:sp>
        <p:nvSpPr>
          <p:cNvPr id="27" name="Shape 20"/>
          <p:cNvSpPr/>
          <p:nvPr/>
        </p:nvSpPr>
        <p:spPr>
          <a:xfrm>
            <a:off x="7772400" y="407365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8" name="Shape 21"/>
          <p:cNvSpPr/>
          <p:nvPr/>
        </p:nvSpPr>
        <p:spPr>
          <a:xfrm>
            <a:off x="7772400" y="4073652"/>
            <a:ext cx="64008" cy="676656"/>
          </a:xfrm>
          <a:prstGeom prst="rect">
            <a:avLst/>
          </a:prstGeom>
          <a:solidFill>
            <a:srgbClr val="06B6D4"/>
          </a:solidFill>
          <a:ln/>
        </p:spPr>
      </p:sp>
      <p:sp>
        <p:nvSpPr>
          <p:cNvPr id="29" name="Shape 22"/>
          <p:cNvSpPr/>
          <p:nvPr/>
        </p:nvSpPr>
        <p:spPr>
          <a:xfrm>
            <a:off x="7918704" y="4219956"/>
            <a:ext cx="384048" cy="384048"/>
          </a:xfrm>
          <a:prstGeom prst="ellipse">
            <a:avLst/>
          </a:prstGeom>
          <a:solidFill>
            <a:srgbClr val="06B6D4"/>
          </a:solidFill>
          <a:ln/>
          <a:effectLst>
            <a:outerShdw sx="100000" sy="100000" kx="0" ky="0" algn="bl" rotWithShape="0" blurRad="114300" dist="38100" dir="5400000">
              <a:srgbClr val="94A3B8">
                <a:alpha val="28000"/>
              </a:srgbClr>
            </a:outerShdw>
          </a:effectLst>
        </p:spPr>
      </p:sp>
      <p:pic>
        <p:nvPicPr>
          <p:cNvPr id="30" name="Image 4" descr="images/icons/clock.png">    </p:cNvPr>
          <p:cNvPicPr>
            <a:picLocks noChangeAspect="1"/>
          </p:cNvPicPr>
          <p:nvPr/>
        </p:nvPicPr>
        <p:blipFill>
          <a:blip r:embed="rId5"/>
          <a:stretch>
            <a:fillRect/>
          </a:stretch>
        </p:blipFill>
        <p:spPr>
          <a:xfrm>
            <a:off x="8010876" y="4312128"/>
            <a:ext cx="199705" cy="199705"/>
          </a:xfrm>
          <a:prstGeom prst="rect">
            <a:avLst/>
          </a:prstGeom>
        </p:spPr>
      </p:pic>
      <p:sp>
        <p:nvSpPr>
          <p:cNvPr id="31" name="Text 23"/>
          <p:cNvSpPr/>
          <p:nvPr/>
        </p:nvSpPr>
        <p:spPr>
          <a:xfrm>
            <a:off x="8449056" y="416509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Capacity</a:t>
            </a:r>
            <a:endParaRPr lang="en-US" sz="1300" dirty="0"/>
          </a:p>
        </p:txBody>
      </p:sp>
      <p:sp>
        <p:nvSpPr>
          <p:cNvPr id="32" name="Text 24"/>
          <p:cNvSpPr/>
          <p:nvPr/>
        </p:nvSpPr>
        <p:spPr>
          <a:xfrm>
            <a:off x="8449056" y="443941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Forecasts with confidence bands</a:t>
            </a:r>
            <a:endParaRPr lang="en-US" sz="1050" dirty="0"/>
          </a:p>
        </p:txBody>
      </p:sp>
      <p:sp>
        <p:nvSpPr>
          <p:cNvPr id="33" name="Shape 25"/>
          <p:cNvSpPr/>
          <p:nvPr/>
        </p:nvSpPr>
        <p:spPr>
          <a:xfrm>
            <a:off x="7772400" y="482803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4" name="Shape 26"/>
          <p:cNvSpPr/>
          <p:nvPr/>
        </p:nvSpPr>
        <p:spPr>
          <a:xfrm>
            <a:off x="7772400" y="4828032"/>
            <a:ext cx="64008" cy="676656"/>
          </a:xfrm>
          <a:prstGeom prst="rect">
            <a:avLst/>
          </a:prstGeom>
          <a:solidFill>
            <a:srgbClr val="1E3A8A"/>
          </a:solidFill>
          <a:ln/>
        </p:spPr>
      </p:sp>
      <p:sp>
        <p:nvSpPr>
          <p:cNvPr id="35" name="Shape 27"/>
          <p:cNvSpPr/>
          <p:nvPr/>
        </p:nvSpPr>
        <p:spPr>
          <a:xfrm>
            <a:off x="7918704" y="4974336"/>
            <a:ext cx="384048" cy="384048"/>
          </a:xfrm>
          <a:prstGeom prst="ellipse">
            <a:avLst/>
          </a:prstGeom>
          <a:solidFill>
            <a:srgbClr val="1E3A8A"/>
          </a:solidFill>
          <a:ln/>
          <a:effectLst>
            <a:outerShdw sx="100000" sy="100000" kx="0" ky="0" algn="bl" rotWithShape="0" blurRad="114300" dist="38100" dir="5400000">
              <a:srgbClr val="94A3B8">
                <a:alpha val="28000"/>
              </a:srgbClr>
            </a:outerShdw>
          </a:effectLst>
        </p:spPr>
      </p:sp>
      <p:pic>
        <p:nvPicPr>
          <p:cNvPr id="36" name="Image 5" descr="images/icons/chat.png">    </p:cNvPr>
          <p:cNvPicPr>
            <a:picLocks noChangeAspect="1"/>
          </p:cNvPicPr>
          <p:nvPr/>
        </p:nvPicPr>
        <p:blipFill>
          <a:blip r:embed="rId6"/>
          <a:stretch>
            <a:fillRect/>
          </a:stretch>
        </p:blipFill>
        <p:spPr>
          <a:xfrm>
            <a:off x="8010876" y="5066508"/>
            <a:ext cx="199705" cy="199705"/>
          </a:xfrm>
          <a:prstGeom prst="rect">
            <a:avLst/>
          </a:prstGeom>
        </p:spPr>
      </p:pic>
      <p:sp>
        <p:nvSpPr>
          <p:cNvPr id="37" name="Text 28"/>
          <p:cNvSpPr/>
          <p:nvPr/>
        </p:nvSpPr>
        <p:spPr>
          <a:xfrm>
            <a:off x="8449056" y="491947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AI Chat</a:t>
            </a:r>
            <a:endParaRPr lang="en-US" sz="1300" dirty="0"/>
          </a:p>
        </p:txBody>
      </p:sp>
      <p:sp>
        <p:nvSpPr>
          <p:cNvPr id="38" name="Text 29"/>
          <p:cNvSpPr/>
          <p:nvPr/>
        </p:nvSpPr>
        <p:spPr>
          <a:xfrm>
            <a:off x="8449056" y="519379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Data-backed natural-language answers</a:t>
            </a:r>
            <a:endParaRPr lang="en-US" sz="1050" dirty="0"/>
          </a:p>
        </p:txBody>
      </p:sp>
      <p:sp>
        <p:nvSpPr>
          <p:cNvPr id="39" name="Shape 30"/>
          <p:cNvSpPr/>
          <p:nvPr/>
        </p:nvSpPr>
        <p:spPr>
          <a:xfrm>
            <a:off x="7772400" y="5582412"/>
            <a:ext cx="3886200" cy="676656"/>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40" name="Shape 31"/>
          <p:cNvSpPr/>
          <p:nvPr/>
        </p:nvSpPr>
        <p:spPr>
          <a:xfrm>
            <a:off x="7772400" y="5582412"/>
            <a:ext cx="64008" cy="676656"/>
          </a:xfrm>
          <a:prstGeom prst="rect">
            <a:avLst/>
          </a:prstGeom>
          <a:solidFill>
            <a:srgbClr val="EF4444"/>
          </a:solidFill>
          <a:ln/>
        </p:spPr>
      </p:sp>
      <p:sp>
        <p:nvSpPr>
          <p:cNvPr id="41" name="Shape 32"/>
          <p:cNvSpPr/>
          <p:nvPr/>
        </p:nvSpPr>
        <p:spPr>
          <a:xfrm>
            <a:off x="7918704" y="5728716"/>
            <a:ext cx="384048" cy="384048"/>
          </a:xfrm>
          <a:prstGeom prst="ellipse">
            <a:avLst/>
          </a:prstGeom>
          <a:solidFill>
            <a:srgbClr val="EF4444"/>
          </a:solidFill>
          <a:ln/>
          <a:effectLst>
            <a:outerShdw sx="100000" sy="100000" kx="0" ky="0" algn="bl" rotWithShape="0" blurRad="114300" dist="38100" dir="5400000">
              <a:srgbClr val="94A3B8">
                <a:alpha val="28000"/>
              </a:srgbClr>
            </a:outerShdw>
          </a:effectLst>
        </p:spPr>
      </p:sp>
      <p:pic>
        <p:nvPicPr>
          <p:cNvPr id="42" name="Image 6" descr="images/icons/bell.png">    </p:cNvPr>
          <p:cNvPicPr>
            <a:picLocks noChangeAspect="1"/>
          </p:cNvPicPr>
          <p:nvPr/>
        </p:nvPicPr>
        <p:blipFill>
          <a:blip r:embed="rId7"/>
          <a:stretch>
            <a:fillRect/>
          </a:stretch>
        </p:blipFill>
        <p:spPr>
          <a:xfrm>
            <a:off x="8010876" y="5820888"/>
            <a:ext cx="199705" cy="199705"/>
          </a:xfrm>
          <a:prstGeom prst="rect">
            <a:avLst/>
          </a:prstGeom>
        </p:spPr>
      </p:pic>
      <p:sp>
        <p:nvSpPr>
          <p:cNvPr id="43" name="Text 33"/>
          <p:cNvSpPr/>
          <p:nvPr/>
        </p:nvSpPr>
        <p:spPr>
          <a:xfrm>
            <a:off x="8449056" y="5673852"/>
            <a:ext cx="3108960" cy="292608"/>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Alerts &amp; Settings</a:t>
            </a:r>
            <a:endParaRPr lang="en-US" sz="1300" dirty="0"/>
          </a:p>
        </p:txBody>
      </p:sp>
      <p:sp>
        <p:nvSpPr>
          <p:cNvPr id="44" name="Text 34"/>
          <p:cNvSpPr/>
          <p:nvPr/>
        </p:nvSpPr>
        <p:spPr>
          <a:xfrm>
            <a:off x="8449056" y="5948172"/>
            <a:ext cx="310896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Security events &amp; thresholds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DEMO · RUN IT LOCALLY</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Up and running in three steps</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
        <p:nvSpPr>
          <p:cNvPr id="7" name="Shape 4"/>
          <p:cNvSpPr/>
          <p:nvPr/>
        </p:nvSpPr>
        <p:spPr>
          <a:xfrm>
            <a:off x="548640" y="1828800"/>
            <a:ext cx="6126480" cy="4114800"/>
          </a:xfrm>
          <a:prstGeom prst="rect">
            <a:avLst/>
          </a:prstGeom>
          <a:solidFill>
            <a:srgbClr val="0F172A"/>
          </a:solidFill>
          <a:ln/>
          <a:effectLst>
            <a:outerShdw sx="100000" sy="100000" kx="0" ky="0" algn="bl" rotWithShape="0" blurRad="114300" dist="38100" dir="5400000">
              <a:srgbClr val="94A3B8">
                <a:alpha val="28000"/>
              </a:srgbClr>
            </a:outerShdw>
          </a:effectLst>
        </p:spPr>
      </p:sp>
      <p:sp>
        <p:nvSpPr>
          <p:cNvPr id="8" name="Shape 5"/>
          <p:cNvSpPr/>
          <p:nvPr/>
        </p:nvSpPr>
        <p:spPr>
          <a:xfrm>
            <a:off x="777240" y="2057400"/>
            <a:ext cx="146304" cy="146304"/>
          </a:xfrm>
          <a:prstGeom prst="ellipse">
            <a:avLst/>
          </a:prstGeom>
          <a:solidFill>
            <a:srgbClr val="EF4444"/>
          </a:solidFill>
          <a:ln/>
        </p:spPr>
      </p:sp>
      <p:sp>
        <p:nvSpPr>
          <p:cNvPr id="9" name="Shape 6"/>
          <p:cNvSpPr/>
          <p:nvPr/>
        </p:nvSpPr>
        <p:spPr>
          <a:xfrm>
            <a:off x="978408" y="2057400"/>
            <a:ext cx="146304" cy="146304"/>
          </a:xfrm>
          <a:prstGeom prst="ellipse">
            <a:avLst/>
          </a:prstGeom>
          <a:solidFill>
            <a:srgbClr val="F59E0B"/>
          </a:solidFill>
          <a:ln/>
        </p:spPr>
      </p:sp>
      <p:sp>
        <p:nvSpPr>
          <p:cNvPr id="10" name="Shape 7"/>
          <p:cNvSpPr/>
          <p:nvPr/>
        </p:nvSpPr>
        <p:spPr>
          <a:xfrm>
            <a:off x="1179576" y="2057400"/>
            <a:ext cx="146304" cy="146304"/>
          </a:xfrm>
          <a:prstGeom prst="ellipse">
            <a:avLst/>
          </a:prstGeom>
          <a:solidFill>
            <a:srgbClr val="10B981"/>
          </a:solidFill>
          <a:ln/>
        </p:spPr>
      </p:sp>
      <p:sp>
        <p:nvSpPr>
          <p:cNvPr id="11" name="Text 8"/>
          <p:cNvSpPr/>
          <p:nvPr/>
        </p:nvSpPr>
        <p:spPr>
          <a:xfrm>
            <a:off x="548640" y="1993392"/>
            <a:ext cx="6126480" cy="274320"/>
          </a:xfrm>
          <a:prstGeom prst="rect">
            <a:avLst/>
          </a:prstGeom>
          <a:noFill/>
          <a:ln/>
        </p:spPr>
        <p:txBody>
          <a:bodyPr wrap="square" lIns="0" tIns="0" rIns="0" bIns="0" rtlCol="0" anchor="ctr"/>
          <a:lstStyle/>
          <a:p>
            <a:pPr algn="ctr" indent="0" marL="0">
              <a:buNone/>
            </a:pPr>
            <a:r>
              <a:rPr lang="en-US" sz="1100" dirty="0">
                <a:solidFill>
                  <a:srgbClr val="64748B"/>
                </a:solidFill>
                <a:latin typeface="Consolas" pitchFamily="34" charset="0"/>
                <a:ea typeface="Consolas" pitchFamily="34" charset="-122"/>
                <a:cs typeface="Consolas" pitchFamily="34" charset="-120"/>
              </a:rPr>
              <a:t>bash</a:t>
            </a:r>
            <a:endParaRPr lang="en-US" sz="1100" dirty="0"/>
          </a:p>
        </p:txBody>
      </p:sp>
      <p:sp>
        <p:nvSpPr>
          <p:cNvPr id="12" name="Text 9"/>
          <p:cNvSpPr/>
          <p:nvPr/>
        </p:nvSpPr>
        <p:spPr>
          <a:xfrm>
            <a:off x="868680" y="2377440"/>
            <a:ext cx="5577840" cy="3383280"/>
          </a:xfrm>
          <a:prstGeom prst="rect">
            <a:avLst/>
          </a:prstGeom>
          <a:noFill/>
          <a:ln/>
        </p:spPr>
        <p:txBody>
          <a:bodyPr wrap="square" lIns="0" tIns="0" rIns="0" bIns="0" rtlCol="0" anchor="t"/>
          <a:lstStyle/>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1 — clone &amp; configure</a:t>
            </a:r>
            <a:endParaRPr lang="en-US" sz="1350" dirty="0"/>
          </a:p>
          <a:p>
            <a:pPr indent="0" marL="0">
              <a:spcAft>
                <a:spcPts val="200"/>
              </a:spcAft>
              <a:buNone/>
            </a:pPr>
            <a:r>
              <a:rPr lang="en-US" sz="1350" dirty="0">
                <a:solidFill>
                  <a:srgbClr val="67E8F9"/>
                </a:solidFill>
                <a:latin typeface="Consolas" pitchFamily="34" charset="0"/>
                <a:ea typeface="Consolas" pitchFamily="34" charset="-122"/>
                <a:cs typeface="Consolas" pitchFamily="34" charset="-120"/>
              </a:rPr>
              <a:t>git clone &lt;repo&gt; &amp;&amp; cd autonomous-dba</a:t>
            </a:r>
            <a:endParaRPr lang="en-US" sz="1350" dirty="0"/>
          </a:p>
          <a:p>
            <a:pPr indent="0" marL="0">
              <a:spcAft>
                <a:spcPts val="200"/>
              </a:spcAft>
              <a:buNone/>
            </a:pPr>
            <a:r>
              <a:rPr lang="en-US" sz="1350" dirty="0">
                <a:solidFill>
                  <a:srgbClr val="67E8F9"/>
                </a:solidFill>
                <a:latin typeface="Consolas" pitchFamily="34" charset="0"/>
                <a:ea typeface="Consolas" pitchFamily="34" charset="-122"/>
                <a:cs typeface="Consolas" pitchFamily="34" charset="-120"/>
              </a:rPr>
              <a:t>cp .env.example .env</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2 — launch the full stack</a:t>
            </a:r>
            <a:endParaRPr lang="en-US" sz="1350" dirty="0"/>
          </a:p>
          <a:p>
            <a:pPr indent="0" marL="0">
              <a:spcAft>
                <a:spcPts val="200"/>
              </a:spcAft>
              <a:buNone/>
            </a:pPr>
            <a:r>
              <a:rPr lang="en-US" sz="1350" dirty="0">
                <a:solidFill>
                  <a:srgbClr val="67E8F9"/>
                </a:solidFill>
                <a:latin typeface="Consolas" pitchFamily="34" charset="0"/>
                <a:ea typeface="Consolas" pitchFamily="34" charset="-122"/>
                <a:cs typeface="Consolas" pitchFamily="34" charset="-120"/>
              </a:rPr>
              <a:t>cd infra/docker</a:t>
            </a:r>
            <a:endParaRPr lang="en-US" sz="1350" dirty="0"/>
          </a:p>
          <a:p>
            <a:pPr indent="0" marL="0">
              <a:spcAft>
                <a:spcPts val="200"/>
              </a:spcAft>
              <a:buNone/>
            </a:pPr>
            <a:r>
              <a:rPr lang="en-US" sz="1350" dirty="0">
                <a:solidFill>
                  <a:srgbClr val="10B981"/>
                </a:solidFill>
                <a:latin typeface="Consolas" pitchFamily="34" charset="0"/>
                <a:ea typeface="Consolas" pitchFamily="34" charset="-122"/>
                <a:cs typeface="Consolas" pitchFamily="34" charset="-120"/>
              </a:rPr>
              <a:t>docker compose up --build</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a:t>
            </a:r>
            <a:endParaRPr lang="en-US" sz="1350" dirty="0"/>
          </a:p>
          <a:p>
            <a:pPr indent="0" marL="0">
              <a:spcAft>
                <a:spcPts val="200"/>
              </a:spcAft>
              <a:buNone/>
            </a:pPr>
            <a:r>
              <a:rPr lang="en-US" sz="1350" dirty="0">
                <a:solidFill>
                  <a:srgbClr val="64748B"/>
                </a:solidFill>
                <a:latin typeface="Consolas" pitchFamily="34" charset="0"/>
                <a:ea typeface="Consolas" pitchFamily="34" charset="-122"/>
                <a:cs typeface="Consolas" pitchFamily="34" charset="-120"/>
              </a:rPr>
              <a:t># 3 — (optional) enable live LLM</a:t>
            </a:r>
            <a:endParaRPr lang="en-US" sz="1350" dirty="0"/>
          </a:p>
          <a:p>
            <a:pPr indent="0" marL="0">
              <a:spcAft>
                <a:spcPts val="200"/>
              </a:spcAft>
              <a:buNone/>
            </a:pPr>
            <a:r>
              <a:rPr lang="en-US" sz="1350" dirty="0">
                <a:solidFill>
                  <a:srgbClr val="67E8F9"/>
                </a:solidFill>
                <a:latin typeface="Consolas" pitchFamily="34" charset="0"/>
                <a:ea typeface="Consolas" pitchFamily="34" charset="-122"/>
                <a:cs typeface="Consolas" pitchFamily="34" charset="-120"/>
              </a:rPr>
              <a:t>docker exec -it dba-ollama \</a:t>
            </a:r>
            <a:endParaRPr lang="en-US" sz="1350" dirty="0"/>
          </a:p>
          <a:p>
            <a:pPr indent="0" marL="0">
              <a:spcAft>
                <a:spcPts val="200"/>
              </a:spcAft>
              <a:buNone/>
            </a:pPr>
            <a:r>
              <a:rPr lang="en-US" sz="1350" dirty="0">
                <a:solidFill>
                  <a:srgbClr val="67E8F9"/>
                </a:solidFill>
                <a:latin typeface="Consolas" pitchFamily="34" charset="0"/>
                <a:ea typeface="Consolas" pitchFamily="34" charset="-122"/>
                <a:cs typeface="Consolas" pitchFamily="34" charset="-120"/>
              </a:rPr>
              <a:t>   ollama pull llama3.2:1b</a:t>
            </a:r>
            <a:endParaRPr lang="en-US" sz="1350" dirty="0"/>
          </a:p>
        </p:txBody>
      </p:sp>
      <p:sp>
        <p:nvSpPr>
          <p:cNvPr id="13" name="Shape 10"/>
          <p:cNvSpPr/>
          <p:nvPr/>
        </p:nvSpPr>
        <p:spPr>
          <a:xfrm>
            <a:off x="7040880" y="1828800"/>
            <a:ext cx="4617720" cy="841248"/>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4" name="Shape 11"/>
          <p:cNvSpPr/>
          <p:nvPr/>
        </p:nvSpPr>
        <p:spPr>
          <a:xfrm>
            <a:off x="7040880" y="1828800"/>
            <a:ext cx="64008" cy="841248"/>
          </a:xfrm>
          <a:prstGeom prst="rect">
            <a:avLst/>
          </a:prstGeom>
          <a:solidFill>
            <a:srgbClr val="0D9488"/>
          </a:solidFill>
          <a:ln/>
        </p:spPr>
      </p:sp>
      <p:sp>
        <p:nvSpPr>
          <p:cNvPr id="15" name="Shape 12"/>
          <p:cNvSpPr/>
          <p:nvPr/>
        </p:nvSpPr>
        <p:spPr>
          <a:xfrm>
            <a:off x="7242048" y="2011680"/>
            <a:ext cx="475488" cy="475488"/>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16" name="Image 0" descr="images/icons/chart.png">    </p:cNvPr>
          <p:cNvPicPr>
            <a:picLocks noChangeAspect="1"/>
          </p:cNvPicPr>
          <p:nvPr/>
        </p:nvPicPr>
        <p:blipFill>
          <a:blip r:embed="rId1"/>
          <a:stretch>
            <a:fillRect/>
          </a:stretch>
        </p:blipFill>
        <p:spPr>
          <a:xfrm>
            <a:off x="7356165" y="2125797"/>
            <a:ext cx="247254" cy="247254"/>
          </a:xfrm>
          <a:prstGeom prst="rect">
            <a:avLst/>
          </a:prstGeom>
        </p:spPr>
      </p:pic>
      <p:sp>
        <p:nvSpPr>
          <p:cNvPr id="17" name="Text 13"/>
          <p:cNvSpPr/>
          <p:nvPr/>
        </p:nvSpPr>
        <p:spPr>
          <a:xfrm>
            <a:off x="7909560" y="1956816"/>
            <a:ext cx="3657600" cy="347472"/>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Dashboard</a:t>
            </a:r>
            <a:endParaRPr lang="en-US" sz="1400" dirty="0"/>
          </a:p>
        </p:txBody>
      </p:sp>
      <p:sp>
        <p:nvSpPr>
          <p:cNvPr id="18" name="Text 14"/>
          <p:cNvSpPr/>
          <p:nvPr/>
        </p:nvSpPr>
        <p:spPr>
          <a:xfrm>
            <a:off x="7909560" y="2286000"/>
            <a:ext cx="3657600" cy="292608"/>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localhost:3000</a:t>
            </a:r>
            <a:endParaRPr lang="en-US" sz="1200" dirty="0"/>
          </a:p>
        </p:txBody>
      </p:sp>
      <p:sp>
        <p:nvSpPr>
          <p:cNvPr id="19" name="Shape 15"/>
          <p:cNvSpPr/>
          <p:nvPr/>
        </p:nvSpPr>
        <p:spPr>
          <a:xfrm>
            <a:off x="7040880" y="2807208"/>
            <a:ext cx="4617720" cy="841248"/>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0" name="Shape 16"/>
          <p:cNvSpPr/>
          <p:nvPr/>
        </p:nvSpPr>
        <p:spPr>
          <a:xfrm>
            <a:off x="7040880" y="2807208"/>
            <a:ext cx="64008" cy="841248"/>
          </a:xfrm>
          <a:prstGeom prst="rect">
            <a:avLst/>
          </a:prstGeom>
          <a:solidFill>
            <a:srgbClr val="2563EB"/>
          </a:solidFill>
          <a:ln/>
        </p:spPr>
      </p:sp>
      <p:sp>
        <p:nvSpPr>
          <p:cNvPr id="21" name="Shape 17"/>
          <p:cNvSpPr/>
          <p:nvPr/>
        </p:nvSpPr>
        <p:spPr>
          <a:xfrm>
            <a:off x="7242048" y="2990088"/>
            <a:ext cx="475488" cy="475488"/>
          </a:xfrm>
          <a:prstGeom prst="ellipse">
            <a:avLst/>
          </a:prstGeom>
          <a:solidFill>
            <a:srgbClr val="2563EB"/>
          </a:solidFill>
          <a:ln/>
          <a:effectLst>
            <a:outerShdw sx="100000" sy="100000" kx="0" ky="0" algn="bl" rotWithShape="0" blurRad="114300" dist="38100" dir="5400000">
              <a:srgbClr val="94A3B8">
                <a:alpha val="28000"/>
              </a:srgbClr>
            </a:outerShdw>
          </a:effectLst>
        </p:spPr>
      </p:sp>
      <p:pic>
        <p:nvPicPr>
          <p:cNvPr id="22" name="Image 1" descr="images/icons/terminal.png">    </p:cNvPr>
          <p:cNvPicPr>
            <a:picLocks noChangeAspect="1"/>
          </p:cNvPicPr>
          <p:nvPr/>
        </p:nvPicPr>
        <p:blipFill>
          <a:blip r:embed="rId2"/>
          <a:stretch>
            <a:fillRect/>
          </a:stretch>
        </p:blipFill>
        <p:spPr>
          <a:xfrm>
            <a:off x="7356165" y="3104205"/>
            <a:ext cx="247254" cy="247254"/>
          </a:xfrm>
          <a:prstGeom prst="rect">
            <a:avLst/>
          </a:prstGeom>
        </p:spPr>
      </p:pic>
      <p:sp>
        <p:nvSpPr>
          <p:cNvPr id="23" name="Text 18"/>
          <p:cNvSpPr/>
          <p:nvPr/>
        </p:nvSpPr>
        <p:spPr>
          <a:xfrm>
            <a:off x="7909560" y="2935224"/>
            <a:ext cx="3657600" cy="347472"/>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API docs (OpenAPI)</a:t>
            </a:r>
            <a:endParaRPr lang="en-US" sz="1400" dirty="0"/>
          </a:p>
        </p:txBody>
      </p:sp>
      <p:sp>
        <p:nvSpPr>
          <p:cNvPr id="24" name="Text 19"/>
          <p:cNvSpPr/>
          <p:nvPr/>
        </p:nvSpPr>
        <p:spPr>
          <a:xfrm>
            <a:off x="7909560" y="3264408"/>
            <a:ext cx="3657600" cy="292608"/>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localhost:8000/docs</a:t>
            </a:r>
            <a:endParaRPr lang="en-US" sz="1200" dirty="0"/>
          </a:p>
        </p:txBody>
      </p:sp>
      <p:sp>
        <p:nvSpPr>
          <p:cNvPr id="25" name="Shape 20"/>
          <p:cNvSpPr/>
          <p:nvPr/>
        </p:nvSpPr>
        <p:spPr>
          <a:xfrm>
            <a:off x="7040880" y="3785616"/>
            <a:ext cx="4617720" cy="841248"/>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6" name="Shape 21"/>
          <p:cNvSpPr/>
          <p:nvPr/>
        </p:nvSpPr>
        <p:spPr>
          <a:xfrm>
            <a:off x="7040880" y="3785616"/>
            <a:ext cx="64008" cy="841248"/>
          </a:xfrm>
          <a:prstGeom prst="rect">
            <a:avLst/>
          </a:prstGeom>
          <a:solidFill>
            <a:srgbClr val="F59E0B"/>
          </a:solidFill>
          <a:ln/>
        </p:spPr>
      </p:sp>
      <p:sp>
        <p:nvSpPr>
          <p:cNvPr id="27" name="Shape 22"/>
          <p:cNvSpPr/>
          <p:nvPr/>
        </p:nvSpPr>
        <p:spPr>
          <a:xfrm>
            <a:off x="7242048" y="3968496"/>
            <a:ext cx="475488" cy="475488"/>
          </a:xfrm>
          <a:prstGeom prst="ellipse">
            <a:avLst/>
          </a:prstGeom>
          <a:solidFill>
            <a:srgbClr val="F59E0B"/>
          </a:solidFill>
          <a:ln/>
          <a:effectLst>
            <a:outerShdw sx="100000" sy="100000" kx="0" ky="0" algn="bl" rotWithShape="0" blurRad="114300" dist="38100" dir="5400000">
              <a:srgbClr val="94A3B8">
                <a:alpha val="28000"/>
              </a:srgbClr>
            </a:outerShdw>
          </a:effectLst>
        </p:spPr>
      </p:sp>
      <p:pic>
        <p:nvPicPr>
          <p:cNvPr id="28" name="Image 2" descr="images/icons/gauge.png">    </p:cNvPr>
          <p:cNvPicPr>
            <a:picLocks noChangeAspect="1"/>
          </p:cNvPicPr>
          <p:nvPr/>
        </p:nvPicPr>
        <p:blipFill>
          <a:blip r:embed="rId3"/>
          <a:stretch>
            <a:fillRect/>
          </a:stretch>
        </p:blipFill>
        <p:spPr>
          <a:xfrm>
            <a:off x="7356165" y="4082613"/>
            <a:ext cx="247254" cy="247254"/>
          </a:xfrm>
          <a:prstGeom prst="rect">
            <a:avLst/>
          </a:prstGeom>
        </p:spPr>
      </p:pic>
      <p:sp>
        <p:nvSpPr>
          <p:cNvPr id="29" name="Text 23"/>
          <p:cNvSpPr/>
          <p:nvPr/>
        </p:nvSpPr>
        <p:spPr>
          <a:xfrm>
            <a:off x="7909560" y="3913632"/>
            <a:ext cx="3657600" cy="347472"/>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Grafana</a:t>
            </a:r>
            <a:endParaRPr lang="en-US" sz="1400" dirty="0"/>
          </a:p>
        </p:txBody>
      </p:sp>
      <p:sp>
        <p:nvSpPr>
          <p:cNvPr id="30" name="Text 24"/>
          <p:cNvSpPr/>
          <p:nvPr/>
        </p:nvSpPr>
        <p:spPr>
          <a:xfrm>
            <a:off x="7909560" y="4242816"/>
            <a:ext cx="3657600" cy="292608"/>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localhost:3001</a:t>
            </a:r>
            <a:endParaRPr lang="en-US" sz="1200" dirty="0"/>
          </a:p>
        </p:txBody>
      </p:sp>
      <p:sp>
        <p:nvSpPr>
          <p:cNvPr id="31" name="Shape 25"/>
          <p:cNvSpPr/>
          <p:nvPr/>
        </p:nvSpPr>
        <p:spPr>
          <a:xfrm>
            <a:off x="7040880" y="4764024"/>
            <a:ext cx="4617720" cy="841248"/>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32" name="Shape 26"/>
          <p:cNvSpPr/>
          <p:nvPr/>
        </p:nvSpPr>
        <p:spPr>
          <a:xfrm>
            <a:off x="7040880" y="4764024"/>
            <a:ext cx="64008" cy="841248"/>
          </a:xfrm>
          <a:prstGeom prst="rect">
            <a:avLst/>
          </a:prstGeom>
          <a:solidFill>
            <a:srgbClr val="7C3AED"/>
          </a:solidFill>
          <a:ln/>
        </p:spPr>
      </p:sp>
      <p:sp>
        <p:nvSpPr>
          <p:cNvPr id="33" name="Shape 27"/>
          <p:cNvSpPr/>
          <p:nvPr/>
        </p:nvSpPr>
        <p:spPr>
          <a:xfrm>
            <a:off x="7242048" y="4946904"/>
            <a:ext cx="475488" cy="475488"/>
          </a:xfrm>
          <a:prstGeom prst="ellipse">
            <a:avLst/>
          </a:prstGeom>
          <a:solidFill>
            <a:srgbClr val="7C3AED"/>
          </a:solidFill>
          <a:ln/>
          <a:effectLst>
            <a:outerShdw sx="100000" sy="100000" kx="0" ky="0" algn="bl" rotWithShape="0" blurRad="114300" dist="38100" dir="5400000">
              <a:srgbClr val="94A3B8">
                <a:alpha val="28000"/>
              </a:srgbClr>
            </a:outerShdw>
          </a:effectLst>
        </p:spPr>
      </p:sp>
      <p:pic>
        <p:nvPicPr>
          <p:cNvPr id="34" name="Image 3" descr="images/icons/bell.png">    </p:cNvPr>
          <p:cNvPicPr>
            <a:picLocks noChangeAspect="1"/>
          </p:cNvPicPr>
          <p:nvPr/>
        </p:nvPicPr>
        <p:blipFill>
          <a:blip r:embed="rId4"/>
          <a:stretch>
            <a:fillRect/>
          </a:stretch>
        </p:blipFill>
        <p:spPr>
          <a:xfrm>
            <a:off x="7356165" y="5061021"/>
            <a:ext cx="247254" cy="247254"/>
          </a:xfrm>
          <a:prstGeom prst="rect">
            <a:avLst/>
          </a:prstGeom>
        </p:spPr>
      </p:pic>
      <p:sp>
        <p:nvSpPr>
          <p:cNvPr id="35" name="Text 28"/>
          <p:cNvSpPr/>
          <p:nvPr/>
        </p:nvSpPr>
        <p:spPr>
          <a:xfrm>
            <a:off x="7909560" y="4892040"/>
            <a:ext cx="3657600" cy="347472"/>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Prometheus</a:t>
            </a:r>
            <a:endParaRPr lang="en-US" sz="1400" dirty="0"/>
          </a:p>
        </p:txBody>
      </p:sp>
      <p:sp>
        <p:nvSpPr>
          <p:cNvPr id="36" name="Text 29"/>
          <p:cNvSpPr/>
          <p:nvPr/>
        </p:nvSpPr>
        <p:spPr>
          <a:xfrm>
            <a:off x="7909560" y="5221224"/>
            <a:ext cx="3657600" cy="292608"/>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localhost:9090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CHALLENGES &amp; SOLUTIONS</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Hard problems, pragmatic fixes</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783080"/>
            <a:ext cx="11091672" cy="841248"/>
          </a:xfrm>
          <a:prstGeom prst="rect">
            <a:avLst/>
          </a:prstGeom>
          <a:solidFill>
            <a:srgbClr val="FFFFFF"/>
          </a:solidFill>
          <a:ln w="12700">
            <a:solidFill>
              <a:srgbClr val="E2E8F0"/>
            </a:solidFill>
            <a:prstDash val="solid"/>
          </a:ln>
        </p:spPr>
      </p:sp>
      <p:sp>
        <p:nvSpPr>
          <p:cNvPr id="8" name="Shape 5"/>
          <p:cNvSpPr/>
          <p:nvPr/>
        </p:nvSpPr>
        <p:spPr>
          <a:xfrm>
            <a:off x="804672" y="2139696"/>
            <a:ext cx="128016" cy="128016"/>
          </a:xfrm>
          <a:prstGeom prst="ellipse">
            <a:avLst/>
          </a:prstGeom>
          <a:solidFill>
            <a:srgbClr val="EF4444"/>
          </a:solidFill>
          <a:ln/>
        </p:spPr>
      </p:sp>
      <p:sp>
        <p:nvSpPr>
          <p:cNvPr id="9" name="Text 6"/>
          <p:cNvSpPr/>
          <p:nvPr/>
        </p:nvSpPr>
        <p:spPr>
          <a:xfrm>
            <a:off x="1051560" y="1892808"/>
            <a:ext cx="3657600" cy="621792"/>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Settings crashed at import</a:t>
            </a:r>
            <a:endParaRPr lang="en-US" sz="1350" dirty="0"/>
          </a:p>
        </p:txBody>
      </p:sp>
      <p:sp>
        <p:nvSpPr>
          <p:cNvPr id="10" name="Text 7"/>
          <p:cNvSpPr/>
          <p:nvPr/>
        </p:nvSpPr>
        <p:spPr>
          <a:xfrm>
            <a:off x="4754880" y="1892808"/>
            <a:ext cx="3749040" cy="62179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pydantic-settings tried to JSON-parse the comma-separated DB list</a:t>
            </a:r>
            <a:endParaRPr lang="en-US" sz="1150" dirty="0"/>
          </a:p>
        </p:txBody>
      </p:sp>
      <p:sp>
        <p:nvSpPr>
          <p:cNvPr id="11" name="Shape 8"/>
          <p:cNvSpPr/>
          <p:nvPr/>
        </p:nvSpPr>
        <p:spPr>
          <a:xfrm>
            <a:off x="8641080" y="2139696"/>
            <a:ext cx="128016" cy="128016"/>
          </a:xfrm>
          <a:prstGeom prst="ellipse">
            <a:avLst/>
          </a:prstGeom>
          <a:solidFill>
            <a:srgbClr val="10B981"/>
          </a:solidFill>
          <a:ln/>
        </p:spPr>
      </p:sp>
      <p:sp>
        <p:nvSpPr>
          <p:cNvPr id="12" name="Text 9"/>
          <p:cNvSpPr/>
          <p:nvPr/>
        </p:nvSpPr>
        <p:spPr>
          <a:xfrm>
            <a:off x="8869680" y="1892808"/>
            <a:ext cx="2651760" cy="62179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Raw string field + cached property to parse it</a:t>
            </a:r>
            <a:endParaRPr lang="en-US" sz="1150" dirty="0"/>
          </a:p>
        </p:txBody>
      </p:sp>
      <p:sp>
        <p:nvSpPr>
          <p:cNvPr id="13" name="Shape 10"/>
          <p:cNvSpPr/>
          <p:nvPr/>
        </p:nvSpPr>
        <p:spPr>
          <a:xfrm>
            <a:off x="548640" y="2711196"/>
            <a:ext cx="11091672" cy="841248"/>
          </a:xfrm>
          <a:prstGeom prst="rect">
            <a:avLst/>
          </a:prstGeom>
          <a:solidFill>
            <a:srgbClr val="F8FAFC"/>
          </a:solidFill>
          <a:ln w="12700">
            <a:solidFill>
              <a:srgbClr val="E2E8F0"/>
            </a:solidFill>
            <a:prstDash val="solid"/>
          </a:ln>
        </p:spPr>
      </p:sp>
      <p:sp>
        <p:nvSpPr>
          <p:cNvPr id="14" name="Shape 11"/>
          <p:cNvSpPr/>
          <p:nvPr/>
        </p:nvSpPr>
        <p:spPr>
          <a:xfrm>
            <a:off x="804672" y="3067812"/>
            <a:ext cx="128016" cy="128016"/>
          </a:xfrm>
          <a:prstGeom prst="ellipse">
            <a:avLst/>
          </a:prstGeom>
          <a:solidFill>
            <a:srgbClr val="EF4444"/>
          </a:solidFill>
          <a:ln/>
        </p:spPr>
      </p:sp>
      <p:sp>
        <p:nvSpPr>
          <p:cNvPr id="15" name="Text 12"/>
          <p:cNvSpPr/>
          <p:nvPr/>
        </p:nvSpPr>
        <p:spPr>
          <a:xfrm>
            <a:off x="1051560" y="2820924"/>
            <a:ext cx="3657600" cy="621792"/>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Dashboard showed no live data</a:t>
            </a:r>
            <a:endParaRPr lang="en-US" sz="1350" dirty="0"/>
          </a:p>
        </p:txBody>
      </p:sp>
      <p:sp>
        <p:nvSpPr>
          <p:cNvPr id="16" name="Text 13"/>
          <p:cNvSpPr/>
          <p:nvPr/>
        </p:nvSpPr>
        <p:spPr>
          <a:xfrm>
            <a:off x="4754880" y="2820924"/>
            <a:ext cx="3749040" cy="62179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The agent wrote metrics but never fed the SSE stream</a:t>
            </a:r>
            <a:endParaRPr lang="en-US" sz="1150" dirty="0"/>
          </a:p>
        </p:txBody>
      </p:sp>
      <p:sp>
        <p:nvSpPr>
          <p:cNvPr id="17" name="Shape 14"/>
          <p:cNvSpPr/>
          <p:nvPr/>
        </p:nvSpPr>
        <p:spPr>
          <a:xfrm>
            <a:off x="8641080" y="3067812"/>
            <a:ext cx="128016" cy="128016"/>
          </a:xfrm>
          <a:prstGeom prst="ellipse">
            <a:avLst/>
          </a:prstGeom>
          <a:solidFill>
            <a:srgbClr val="10B981"/>
          </a:solidFill>
          <a:ln/>
        </p:spPr>
      </p:sp>
      <p:sp>
        <p:nvSpPr>
          <p:cNvPr id="18" name="Text 15"/>
          <p:cNvSpPr/>
          <p:nvPr/>
        </p:nvSpPr>
        <p:spPr>
          <a:xfrm>
            <a:off x="8869680" y="2820924"/>
            <a:ext cx="2651760" cy="62179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Snapshot publish callback → per-DB SSE queues</a:t>
            </a:r>
            <a:endParaRPr lang="en-US" sz="1150" dirty="0"/>
          </a:p>
        </p:txBody>
      </p:sp>
      <p:sp>
        <p:nvSpPr>
          <p:cNvPr id="19" name="Shape 16"/>
          <p:cNvSpPr/>
          <p:nvPr/>
        </p:nvSpPr>
        <p:spPr>
          <a:xfrm>
            <a:off x="548640" y="3639312"/>
            <a:ext cx="11091672" cy="841248"/>
          </a:xfrm>
          <a:prstGeom prst="rect">
            <a:avLst/>
          </a:prstGeom>
          <a:solidFill>
            <a:srgbClr val="FFFFFF"/>
          </a:solidFill>
          <a:ln w="12700">
            <a:solidFill>
              <a:srgbClr val="E2E8F0"/>
            </a:solidFill>
            <a:prstDash val="solid"/>
          </a:ln>
        </p:spPr>
      </p:sp>
      <p:sp>
        <p:nvSpPr>
          <p:cNvPr id="20" name="Shape 17"/>
          <p:cNvSpPr/>
          <p:nvPr/>
        </p:nvSpPr>
        <p:spPr>
          <a:xfrm>
            <a:off x="804672" y="3995928"/>
            <a:ext cx="128016" cy="128016"/>
          </a:xfrm>
          <a:prstGeom prst="ellipse">
            <a:avLst/>
          </a:prstGeom>
          <a:solidFill>
            <a:srgbClr val="EF4444"/>
          </a:solidFill>
          <a:ln/>
        </p:spPr>
      </p:sp>
      <p:sp>
        <p:nvSpPr>
          <p:cNvPr id="21" name="Text 18"/>
          <p:cNvSpPr/>
          <p:nvPr/>
        </p:nvSpPr>
        <p:spPr>
          <a:xfrm>
            <a:off x="1051560" y="3749040"/>
            <a:ext cx="3657600" cy="621792"/>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pg_stat_statements was dormant</a:t>
            </a:r>
            <a:endParaRPr lang="en-US" sz="1350" dirty="0"/>
          </a:p>
        </p:txBody>
      </p:sp>
      <p:sp>
        <p:nvSpPr>
          <p:cNvPr id="22" name="Text 19"/>
          <p:cNvSpPr/>
          <p:nvPr/>
        </p:nvSpPr>
        <p:spPr>
          <a:xfrm>
            <a:off x="4754880" y="3749040"/>
            <a:ext cx="3749040" cy="62179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CREATE EXTENSION isn't enough without preloading</a:t>
            </a:r>
            <a:endParaRPr lang="en-US" sz="1150" dirty="0"/>
          </a:p>
        </p:txBody>
      </p:sp>
      <p:sp>
        <p:nvSpPr>
          <p:cNvPr id="23" name="Shape 20"/>
          <p:cNvSpPr/>
          <p:nvPr/>
        </p:nvSpPr>
        <p:spPr>
          <a:xfrm>
            <a:off x="8641080" y="3995928"/>
            <a:ext cx="128016" cy="128016"/>
          </a:xfrm>
          <a:prstGeom prst="ellipse">
            <a:avLst/>
          </a:prstGeom>
          <a:solidFill>
            <a:srgbClr val="10B981"/>
          </a:solidFill>
          <a:ln/>
        </p:spPr>
      </p:sp>
      <p:sp>
        <p:nvSpPr>
          <p:cNvPr id="24" name="Text 21"/>
          <p:cNvSpPr/>
          <p:nvPr/>
        </p:nvSpPr>
        <p:spPr>
          <a:xfrm>
            <a:off x="8869680" y="3749040"/>
            <a:ext cx="2651760" cy="62179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Preload via compose command + seed a workload</a:t>
            </a:r>
            <a:endParaRPr lang="en-US" sz="1150" dirty="0"/>
          </a:p>
        </p:txBody>
      </p:sp>
      <p:sp>
        <p:nvSpPr>
          <p:cNvPr id="25" name="Shape 22"/>
          <p:cNvSpPr/>
          <p:nvPr/>
        </p:nvSpPr>
        <p:spPr>
          <a:xfrm>
            <a:off x="548640" y="4567428"/>
            <a:ext cx="11091672" cy="841248"/>
          </a:xfrm>
          <a:prstGeom prst="rect">
            <a:avLst/>
          </a:prstGeom>
          <a:solidFill>
            <a:srgbClr val="F8FAFC"/>
          </a:solidFill>
          <a:ln w="12700">
            <a:solidFill>
              <a:srgbClr val="E2E8F0"/>
            </a:solidFill>
            <a:prstDash val="solid"/>
          </a:ln>
        </p:spPr>
      </p:sp>
      <p:sp>
        <p:nvSpPr>
          <p:cNvPr id="26" name="Shape 23"/>
          <p:cNvSpPr/>
          <p:nvPr/>
        </p:nvSpPr>
        <p:spPr>
          <a:xfrm>
            <a:off x="804672" y="4924044"/>
            <a:ext cx="128016" cy="128016"/>
          </a:xfrm>
          <a:prstGeom prst="ellipse">
            <a:avLst/>
          </a:prstGeom>
          <a:solidFill>
            <a:srgbClr val="EF4444"/>
          </a:solidFill>
          <a:ln/>
        </p:spPr>
      </p:sp>
      <p:sp>
        <p:nvSpPr>
          <p:cNvPr id="27" name="Text 24"/>
          <p:cNvSpPr/>
          <p:nvPr/>
        </p:nvSpPr>
        <p:spPr>
          <a:xfrm>
            <a:off x="1051560" y="4677156"/>
            <a:ext cx="3657600" cy="621792"/>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LLM not always available</a:t>
            </a:r>
            <a:endParaRPr lang="en-US" sz="1350" dirty="0"/>
          </a:p>
        </p:txBody>
      </p:sp>
      <p:sp>
        <p:nvSpPr>
          <p:cNvPr id="28" name="Text 25"/>
          <p:cNvSpPr/>
          <p:nvPr/>
        </p:nvSpPr>
        <p:spPr>
          <a:xfrm>
            <a:off x="4754880" y="4677156"/>
            <a:ext cx="3749040" cy="62179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Ollama/Groq may be offline in a demo</a:t>
            </a:r>
            <a:endParaRPr lang="en-US" sz="1150" dirty="0"/>
          </a:p>
        </p:txBody>
      </p:sp>
      <p:sp>
        <p:nvSpPr>
          <p:cNvPr id="29" name="Shape 26"/>
          <p:cNvSpPr/>
          <p:nvPr/>
        </p:nvSpPr>
        <p:spPr>
          <a:xfrm>
            <a:off x="8641080" y="4924044"/>
            <a:ext cx="128016" cy="128016"/>
          </a:xfrm>
          <a:prstGeom prst="ellipse">
            <a:avLst/>
          </a:prstGeom>
          <a:solidFill>
            <a:srgbClr val="10B981"/>
          </a:solidFill>
          <a:ln/>
        </p:spPr>
      </p:sp>
      <p:sp>
        <p:nvSpPr>
          <p:cNvPr id="30" name="Text 27"/>
          <p:cNvSpPr/>
          <p:nvPr/>
        </p:nvSpPr>
        <p:spPr>
          <a:xfrm>
            <a:off x="8869680" y="4677156"/>
            <a:ext cx="2651760" cy="62179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Graceful degradation + rule-based fallback</a:t>
            </a:r>
            <a:endParaRPr lang="en-US" sz="1150" dirty="0"/>
          </a:p>
        </p:txBody>
      </p:sp>
      <p:sp>
        <p:nvSpPr>
          <p:cNvPr id="31" name="Shape 28"/>
          <p:cNvSpPr/>
          <p:nvPr/>
        </p:nvSpPr>
        <p:spPr>
          <a:xfrm>
            <a:off x="548640" y="5495544"/>
            <a:ext cx="11091672" cy="841248"/>
          </a:xfrm>
          <a:prstGeom prst="rect">
            <a:avLst/>
          </a:prstGeom>
          <a:solidFill>
            <a:srgbClr val="FFFFFF"/>
          </a:solidFill>
          <a:ln w="12700">
            <a:solidFill>
              <a:srgbClr val="E2E8F0"/>
            </a:solidFill>
            <a:prstDash val="solid"/>
          </a:ln>
        </p:spPr>
      </p:sp>
      <p:sp>
        <p:nvSpPr>
          <p:cNvPr id="32" name="Shape 29"/>
          <p:cNvSpPr/>
          <p:nvPr/>
        </p:nvSpPr>
        <p:spPr>
          <a:xfrm>
            <a:off x="804672" y="5852160"/>
            <a:ext cx="128016" cy="128016"/>
          </a:xfrm>
          <a:prstGeom prst="ellipse">
            <a:avLst/>
          </a:prstGeom>
          <a:solidFill>
            <a:srgbClr val="EF4444"/>
          </a:solidFill>
          <a:ln/>
        </p:spPr>
      </p:sp>
      <p:sp>
        <p:nvSpPr>
          <p:cNvPr id="33" name="Text 30"/>
          <p:cNvSpPr/>
          <p:nvPr/>
        </p:nvSpPr>
        <p:spPr>
          <a:xfrm>
            <a:off x="1051560" y="5605272"/>
            <a:ext cx="3657600" cy="621792"/>
          </a:xfrm>
          <a:prstGeom prst="rect">
            <a:avLst/>
          </a:prstGeom>
          <a:noFill/>
          <a:ln/>
        </p:spPr>
        <p:txBody>
          <a:bodyPr wrap="square" lIns="0" tIns="0" rIns="0" bIns="0" rtlCol="0" anchor="ctr"/>
          <a:lstStyle/>
          <a:p>
            <a:pPr indent="0" marL="0">
              <a:buNone/>
            </a:pPr>
            <a:r>
              <a:rPr lang="en-US" sz="1350" b="1" dirty="0">
                <a:solidFill>
                  <a:srgbClr val="0F172A"/>
                </a:solidFill>
                <a:latin typeface="Trebuchet MS" pitchFamily="34" charset="0"/>
                <a:ea typeface="Trebuchet MS" pitchFamily="34" charset="-122"/>
                <a:cs typeface="Trebuchet MS" pitchFamily="34" charset="-120"/>
              </a:rPr>
              <a:t>Needed production-scale data</a:t>
            </a:r>
            <a:endParaRPr lang="en-US" sz="1350" dirty="0"/>
          </a:p>
        </p:txBody>
      </p:sp>
      <p:sp>
        <p:nvSpPr>
          <p:cNvPr id="34" name="Text 31"/>
          <p:cNvSpPr/>
          <p:nvPr/>
        </p:nvSpPr>
        <p:spPr>
          <a:xfrm>
            <a:off x="4754880" y="5605272"/>
            <a:ext cx="3749040" cy="62179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Tiny seed didn't exercise slow scans</a:t>
            </a:r>
            <a:endParaRPr lang="en-US" sz="1150" dirty="0"/>
          </a:p>
        </p:txBody>
      </p:sp>
      <p:sp>
        <p:nvSpPr>
          <p:cNvPr id="35" name="Shape 32"/>
          <p:cNvSpPr/>
          <p:nvPr/>
        </p:nvSpPr>
        <p:spPr>
          <a:xfrm>
            <a:off x="8641080" y="5852160"/>
            <a:ext cx="128016" cy="128016"/>
          </a:xfrm>
          <a:prstGeom prst="ellipse">
            <a:avLst/>
          </a:prstGeom>
          <a:solidFill>
            <a:srgbClr val="10B981"/>
          </a:solidFill>
          <a:ln/>
        </p:spPr>
      </p:sp>
      <p:sp>
        <p:nvSpPr>
          <p:cNvPr id="36" name="Text 33"/>
          <p:cNvSpPr/>
          <p:nvPr/>
        </p:nvSpPr>
        <p:spPr>
          <a:xfrm>
            <a:off x="8869680" y="5605272"/>
            <a:ext cx="2651760" cy="621792"/>
          </a:xfrm>
          <a:prstGeom prst="rect">
            <a:avLst/>
          </a:prstGeom>
          <a:noFill/>
          <a:ln/>
        </p:spPr>
        <p:txBody>
          <a:bodyPr wrap="square" lIns="0" tIns="0" rIns="0" bIns="0" rtlCol="0" anchor="ctr"/>
          <a:lstStyle/>
          <a:p>
            <a:pPr indent="0" marL="0">
              <a:buNone/>
            </a:pPr>
            <a:r>
              <a:rPr lang="en-US" sz="1150" b="1" dirty="0">
                <a:solidFill>
                  <a:srgbClr val="0D9488"/>
                </a:solidFill>
                <a:latin typeface="Calibri" pitchFamily="34" charset="0"/>
                <a:ea typeface="Calibri" pitchFamily="34" charset="-122"/>
                <a:cs typeface="Calibri" pitchFamily="34" charset="-120"/>
              </a:rPr>
              <a:t>Configurable seed: 15.5M → 100M+ rows</a:t>
            </a:r>
            <a:endParaRPr lang="en-US" sz="1150" dirty="0"/>
          </a:p>
        </p:txBody>
      </p:sp>
      <p:sp>
        <p:nvSpPr>
          <p:cNvPr id="37" name="Text 34"/>
          <p:cNvSpPr/>
          <p:nvPr/>
        </p:nvSpPr>
        <p:spPr>
          <a:xfrm>
            <a:off x="804672" y="1481328"/>
            <a:ext cx="10972800" cy="256032"/>
          </a:xfrm>
          <a:prstGeom prst="rect">
            <a:avLst/>
          </a:prstGeom>
          <a:noFill/>
          <a:ln/>
        </p:spPr>
        <p:txBody>
          <a:bodyPr wrap="square" lIns="0" tIns="0" rIns="0" bIns="0" rtlCol="0" anchor="ctr"/>
          <a:lstStyle/>
          <a:p>
            <a:pPr indent="0" marL="0">
              <a:buNone/>
            </a:pPr>
            <a:r>
              <a:rPr lang="en-US" sz="1000" b="1" spc="100" kern="0" dirty="0">
                <a:solidFill>
                  <a:srgbClr val="EF4444"/>
                </a:solidFill>
                <a:latin typeface="Calibri" pitchFamily="34" charset="0"/>
                <a:ea typeface="Calibri" pitchFamily="34" charset="-122"/>
                <a:cs typeface="Calibri" pitchFamily="34" charset="-120"/>
              </a:rPr>
              <a:t>CHALLENGE</a:t>
            </a:r>
            <a:pPr indent="0" marL="0">
              <a:buNone/>
            </a:pPr>
            <a:r>
              <a:rPr lang="en-US" sz="1000" b="1" spc="100" kern="0" dirty="0">
                <a:solidFill>
                  <a:srgbClr val="64748B"/>
                </a:solidFill>
                <a:latin typeface="Calibri" pitchFamily="34" charset="0"/>
                <a:ea typeface="Calibri" pitchFamily="34" charset="-122"/>
                <a:cs typeface="Calibri" pitchFamily="34" charset="-120"/>
              </a:rPr>
              <a:t>          ROOT CAUSE</a:t>
            </a:r>
            <a:pPr indent="0" marL="0">
              <a:buNone/>
            </a:pPr>
            <a:r>
              <a:rPr lang="en-US" sz="1000" b="1" spc="100" kern="0" dirty="0">
                <a:solidFill>
                  <a:srgbClr val="10B981"/>
                </a:solidFill>
                <a:latin typeface="Calibri" pitchFamily="34" charset="0"/>
                <a:ea typeface="Calibri" pitchFamily="34" charset="-122"/>
                <a:cs typeface="Calibri" pitchFamily="34" charset="-120"/>
              </a:rPr>
              <a:t>                                              SOLUTION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411480"/>
            <a:ext cx="10058400" cy="27432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RESULTS &amp; LESSONS LEARNED</a:t>
            </a:r>
            <a:endParaRPr lang="en-US" sz="1300" dirty="0"/>
          </a:p>
        </p:txBody>
      </p:sp>
      <p:sp>
        <p:nvSpPr>
          <p:cNvPr id="4" name="Text 1"/>
          <p:cNvSpPr/>
          <p:nvPr/>
        </p:nvSpPr>
        <p:spPr>
          <a:xfrm>
            <a:off x="548640" y="676656"/>
            <a:ext cx="11064240" cy="868680"/>
          </a:xfrm>
          <a:prstGeom prst="rect">
            <a:avLst/>
          </a:prstGeom>
          <a:noFill/>
          <a:ln/>
        </p:spPr>
        <p:txBody>
          <a:bodyPr wrap="square" lIns="0" tIns="0" rIns="0" bIns="0" rtlCol="0" anchor="ctr"/>
          <a:lstStyle/>
          <a:p>
            <a:pPr indent="0" marL="0">
              <a:buNone/>
            </a:pPr>
            <a:r>
              <a:rPr lang="en-US" sz="3100" b="1" dirty="0">
                <a:solidFill>
                  <a:srgbClr val="0F172A"/>
                </a:solidFill>
                <a:latin typeface="Trebuchet MS" pitchFamily="34" charset="0"/>
                <a:ea typeface="Trebuchet MS" pitchFamily="34" charset="-122"/>
                <a:cs typeface="Trebuchet MS" pitchFamily="34" charset="-120"/>
              </a:rPr>
              <a:t>What shipped, and what I learned</a:t>
            </a:r>
            <a:endParaRPr lang="en-US" sz="3100" dirty="0"/>
          </a:p>
        </p:txBody>
      </p:sp>
      <p:sp>
        <p:nvSpPr>
          <p:cNvPr id="5" name="Text 2"/>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6" name="Text 3"/>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828800"/>
            <a:ext cx="2651760" cy="15544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8" name="Shape 5"/>
          <p:cNvSpPr/>
          <p:nvPr/>
        </p:nvSpPr>
        <p:spPr>
          <a:xfrm>
            <a:off x="548640" y="1828800"/>
            <a:ext cx="64008" cy="1554480"/>
          </a:xfrm>
          <a:prstGeom prst="rect">
            <a:avLst/>
          </a:prstGeom>
          <a:solidFill>
            <a:srgbClr val="0D9488"/>
          </a:solidFill>
          <a:ln/>
        </p:spPr>
      </p:sp>
      <p:sp>
        <p:nvSpPr>
          <p:cNvPr id="9" name="Text 6"/>
          <p:cNvSpPr/>
          <p:nvPr/>
        </p:nvSpPr>
        <p:spPr>
          <a:xfrm>
            <a:off x="640080" y="2011680"/>
            <a:ext cx="2468880" cy="777240"/>
          </a:xfrm>
          <a:prstGeom prst="rect">
            <a:avLst/>
          </a:prstGeom>
          <a:noFill/>
          <a:ln/>
        </p:spPr>
        <p:txBody>
          <a:bodyPr wrap="square" lIns="0" tIns="0" rIns="0" bIns="0" rtlCol="0" anchor="ctr"/>
          <a:lstStyle/>
          <a:p>
            <a:pPr algn="ctr" indent="0" marL="0">
              <a:buNone/>
            </a:pPr>
            <a:r>
              <a:rPr lang="en-US" sz="4000" b="1" dirty="0">
                <a:solidFill>
                  <a:srgbClr val="0D9488"/>
                </a:solidFill>
                <a:latin typeface="Trebuchet MS" pitchFamily="34" charset="0"/>
                <a:ea typeface="Trebuchet MS" pitchFamily="34" charset="-122"/>
                <a:cs typeface="Trebuchet MS" pitchFamily="34" charset="-120"/>
              </a:rPr>
              <a:t>13</a:t>
            </a:r>
            <a:endParaRPr lang="en-US" sz="4000" dirty="0"/>
          </a:p>
        </p:txBody>
      </p:sp>
      <p:sp>
        <p:nvSpPr>
          <p:cNvPr id="10" name="Text 7"/>
          <p:cNvSpPr/>
          <p:nvPr/>
        </p:nvSpPr>
        <p:spPr>
          <a:xfrm>
            <a:off x="685800" y="2816352"/>
            <a:ext cx="2377440" cy="45720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REST + SSE endpoints</a:t>
            </a:r>
            <a:endParaRPr lang="en-US" sz="1250" dirty="0"/>
          </a:p>
        </p:txBody>
      </p:sp>
      <p:sp>
        <p:nvSpPr>
          <p:cNvPr id="11" name="Shape 8"/>
          <p:cNvSpPr/>
          <p:nvPr/>
        </p:nvSpPr>
        <p:spPr>
          <a:xfrm>
            <a:off x="3355848" y="1828800"/>
            <a:ext cx="2651760" cy="15544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2" name="Shape 9"/>
          <p:cNvSpPr/>
          <p:nvPr/>
        </p:nvSpPr>
        <p:spPr>
          <a:xfrm>
            <a:off x="3355848" y="1828800"/>
            <a:ext cx="64008" cy="1554480"/>
          </a:xfrm>
          <a:prstGeom prst="rect">
            <a:avLst/>
          </a:prstGeom>
          <a:solidFill>
            <a:srgbClr val="2563EB"/>
          </a:solidFill>
          <a:ln/>
        </p:spPr>
      </p:sp>
      <p:sp>
        <p:nvSpPr>
          <p:cNvPr id="13" name="Text 10"/>
          <p:cNvSpPr/>
          <p:nvPr/>
        </p:nvSpPr>
        <p:spPr>
          <a:xfrm>
            <a:off x="3447288" y="2011680"/>
            <a:ext cx="2468880" cy="777240"/>
          </a:xfrm>
          <a:prstGeom prst="rect">
            <a:avLst/>
          </a:prstGeom>
          <a:noFill/>
          <a:ln/>
        </p:spPr>
        <p:txBody>
          <a:bodyPr wrap="square" lIns="0" tIns="0" rIns="0" bIns="0" rtlCol="0" anchor="ctr"/>
          <a:lstStyle/>
          <a:p>
            <a:pPr algn="ctr" indent="0" marL="0">
              <a:buNone/>
            </a:pPr>
            <a:r>
              <a:rPr lang="en-US" sz="4000" b="1" dirty="0">
                <a:solidFill>
                  <a:srgbClr val="2563EB"/>
                </a:solidFill>
                <a:latin typeface="Trebuchet MS" pitchFamily="34" charset="0"/>
                <a:ea typeface="Trebuchet MS" pitchFamily="34" charset="-122"/>
                <a:cs typeface="Trebuchet MS" pitchFamily="34" charset="-120"/>
              </a:rPr>
              <a:t>9 / 10</a:t>
            </a:r>
            <a:endParaRPr lang="en-US" sz="4000" dirty="0"/>
          </a:p>
        </p:txBody>
      </p:sp>
      <p:sp>
        <p:nvSpPr>
          <p:cNvPr id="14" name="Text 11"/>
          <p:cNvSpPr/>
          <p:nvPr/>
        </p:nvSpPr>
        <p:spPr>
          <a:xfrm>
            <a:off x="3493008" y="2816352"/>
            <a:ext cx="2377440" cy="45720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expected-output features</a:t>
            </a:r>
            <a:endParaRPr lang="en-US" sz="1250" dirty="0"/>
          </a:p>
        </p:txBody>
      </p:sp>
      <p:sp>
        <p:nvSpPr>
          <p:cNvPr id="15" name="Shape 12"/>
          <p:cNvSpPr/>
          <p:nvPr/>
        </p:nvSpPr>
        <p:spPr>
          <a:xfrm>
            <a:off x="6163056" y="1828800"/>
            <a:ext cx="2651760" cy="15544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6" name="Shape 13"/>
          <p:cNvSpPr/>
          <p:nvPr/>
        </p:nvSpPr>
        <p:spPr>
          <a:xfrm>
            <a:off x="6163056" y="1828800"/>
            <a:ext cx="64008" cy="1554480"/>
          </a:xfrm>
          <a:prstGeom prst="rect">
            <a:avLst/>
          </a:prstGeom>
          <a:solidFill>
            <a:srgbClr val="1E3A8A"/>
          </a:solidFill>
          <a:ln/>
        </p:spPr>
      </p:sp>
      <p:sp>
        <p:nvSpPr>
          <p:cNvPr id="17" name="Text 14"/>
          <p:cNvSpPr/>
          <p:nvPr/>
        </p:nvSpPr>
        <p:spPr>
          <a:xfrm>
            <a:off x="6254496" y="2011680"/>
            <a:ext cx="2468880" cy="777240"/>
          </a:xfrm>
          <a:prstGeom prst="rect">
            <a:avLst/>
          </a:prstGeom>
          <a:noFill/>
          <a:ln/>
        </p:spPr>
        <p:txBody>
          <a:bodyPr wrap="square" lIns="0" tIns="0" rIns="0" bIns="0" rtlCol="0" anchor="ctr"/>
          <a:lstStyle/>
          <a:p>
            <a:pPr algn="ctr" indent="0" marL="0">
              <a:buNone/>
            </a:pPr>
            <a:r>
              <a:rPr lang="en-US" sz="4000" b="1" dirty="0">
                <a:solidFill>
                  <a:srgbClr val="1E3A8A"/>
                </a:solidFill>
                <a:latin typeface="Trebuchet MS" pitchFamily="34" charset="0"/>
                <a:ea typeface="Trebuchet MS" pitchFamily="34" charset="-122"/>
                <a:cs typeface="Trebuchet MS" pitchFamily="34" charset="-120"/>
              </a:rPr>
              <a:t>15.5M+</a:t>
            </a:r>
            <a:endParaRPr lang="en-US" sz="4000" dirty="0"/>
          </a:p>
        </p:txBody>
      </p:sp>
      <p:sp>
        <p:nvSpPr>
          <p:cNvPr id="18" name="Text 15"/>
          <p:cNvSpPr/>
          <p:nvPr/>
        </p:nvSpPr>
        <p:spPr>
          <a:xfrm>
            <a:off x="6300216" y="2816352"/>
            <a:ext cx="2377440" cy="45720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rows monitored live</a:t>
            </a:r>
            <a:endParaRPr lang="en-US" sz="1250" dirty="0"/>
          </a:p>
        </p:txBody>
      </p:sp>
      <p:sp>
        <p:nvSpPr>
          <p:cNvPr id="19" name="Shape 16"/>
          <p:cNvSpPr/>
          <p:nvPr/>
        </p:nvSpPr>
        <p:spPr>
          <a:xfrm>
            <a:off x="8970264" y="1828800"/>
            <a:ext cx="2651760" cy="1554480"/>
          </a:xfrm>
          <a:prstGeom prst="rect">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20" name="Shape 17"/>
          <p:cNvSpPr/>
          <p:nvPr/>
        </p:nvSpPr>
        <p:spPr>
          <a:xfrm>
            <a:off x="8970264" y="1828800"/>
            <a:ext cx="64008" cy="1554480"/>
          </a:xfrm>
          <a:prstGeom prst="rect">
            <a:avLst/>
          </a:prstGeom>
          <a:solidFill>
            <a:srgbClr val="7C3AED"/>
          </a:solidFill>
          <a:ln/>
        </p:spPr>
      </p:sp>
      <p:sp>
        <p:nvSpPr>
          <p:cNvPr id="21" name="Text 18"/>
          <p:cNvSpPr/>
          <p:nvPr/>
        </p:nvSpPr>
        <p:spPr>
          <a:xfrm>
            <a:off x="9061704" y="2011680"/>
            <a:ext cx="2468880" cy="777240"/>
          </a:xfrm>
          <a:prstGeom prst="rect">
            <a:avLst/>
          </a:prstGeom>
          <a:noFill/>
          <a:ln/>
        </p:spPr>
        <p:txBody>
          <a:bodyPr wrap="square" lIns="0" tIns="0" rIns="0" bIns="0" rtlCol="0" anchor="ctr"/>
          <a:lstStyle/>
          <a:p>
            <a:pPr algn="ctr" indent="0" marL="0">
              <a:buNone/>
            </a:pPr>
            <a:r>
              <a:rPr lang="en-US" sz="4000" b="1" dirty="0">
                <a:solidFill>
                  <a:srgbClr val="7C3AED"/>
                </a:solidFill>
                <a:latin typeface="Trebuchet MS" pitchFamily="34" charset="0"/>
                <a:ea typeface="Trebuchet MS" pitchFamily="34" charset="-122"/>
                <a:cs typeface="Trebuchet MS" pitchFamily="34" charset="-120"/>
              </a:rPr>
              <a:t>&lt; 2%</a:t>
            </a:r>
            <a:endParaRPr lang="en-US" sz="4000" dirty="0"/>
          </a:p>
        </p:txBody>
      </p:sp>
      <p:sp>
        <p:nvSpPr>
          <p:cNvPr id="22" name="Text 19"/>
          <p:cNvSpPr/>
          <p:nvPr/>
        </p:nvSpPr>
        <p:spPr>
          <a:xfrm>
            <a:off x="9107424" y="2816352"/>
            <a:ext cx="2377440" cy="457200"/>
          </a:xfrm>
          <a:prstGeom prst="rect">
            <a:avLst/>
          </a:prstGeom>
          <a:noFill/>
          <a:ln/>
        </p:spPr>
        <p:txBody>
          <a:bodyPr wrap="square" lIns="0" tIns="0" rIns="0" bIns="0" rtlCol="0" anchor="ctr"/>
          <a:lstStyle/>
          <a:p>
            <a:pPr algn="ctr" indent="0" marL="0">
              <a:buNone/>
            </a:pPr>
            <a:r>
              <a:rPr lang="en-US" sz="1250" dirty="0">
                <a:solidFill>
                  <a:srgbClr val="334155"/>
                </a:solidFill>
                <a:latin typeface="Calibri" pitchFamily="34" charset="0"/>
                <a:ea typeface="Calibri" pitchFamily="34" charset="-122"/>
                <a:cs typeface="Calibri" pitchFamily="34" charset="-120"/>
              </a:rPr>
              <a:t>target DB overhead</a:t>
            </a:r>
            <a:endParaRPr lang="en-US" sz="1250" dirty="0"/>
          </a:p>
        </p:txBody>
      </p:sp>
      <p:sp>
        <p:nvSpPr>
          <p:cNvPr id="23" name="Text 20"/>
          <p:cNvSpPr/>
          <p:nvPr/>
        </p:nvSpPr>
        <p:spPr>
          <a:xfrm>
            <a:off x="548640" y="3703320"/>
            <a:ext cx="5486400" cy="36576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Lessons learned</a:t>
            </a:r>
            <a:endParaRPr lang="en-US" sz="1700" dirty="0"/>
          </a:p>
        </p:txBody>
      </p:sp>
      <p:sp>
        <p:nvSpPr>
          <p:cNvPr id="24" name="Text 21"/>
          <p:cNvSpPr/>
          <p:nvPr/>
        </p:nvSpPr>
        <p:spPr>
          <a:xfrm>
            <a:off x="566928" y="4114800"/>
            <a:ext cx="11064240" cy="2103120"/>
          </a:xfrm>
          <a:prstGeom prst="rect">
            <a:avLst/>
          </a:prstGeom>
          <a:noFill/>
          <a:ln/>
        </p:spPr>
        <p:txBody>
          <a:bodyPr wrap="square" lIns="0" tIns="0" rIns="0" bIns="0" rtlCol="0" anchor="ctr"/>
          <a:lstStyle/>
          <a:p>
            <a:pPr marL="177800" indent="-177800">
              <a:spcAft>
                <a:spcPts val="700"/>
              </a:spcAft>
              <a:buSzPct val="100000"/>
              <a:buChar char="•"/>
            </a:pPr>
            <a:r>
              <a:rPr lang="en-US" sz="1350" dirty="0">
                <a:solidFill>
                  <a:srgbClr val="334155"/>
                </a:solidFill>
                <a:latin typeface="Calibri" pitchFamily="34" charset="0"/>
                <a:ea typeface="Calibri" pitchFamily="34" charset="-122"/>
                <a:cs typeface="Calibri" pitchFamily="34" charset="-120"/>
              </a:rPr>
              <a:t>Graceful degradation beats hard failure — the system must still boot and serve when a dependency is missing.</a:t>
            </a:r>
            <a:endParaRPr lang="en-US" sz="1350" dirty="0"/>
          </a:p>
          <a:p>
            <a:pPr marL="177800" indent="-177800">
              <a:spcAft>
                <a:spcPts val="700"/>
              </a:spcAft>
              <a:buSzPct val="100000"/>
              <a:buChar char="•"/>
            </a:pPr>
            <a:r>
              <a:rPr lang="en-US" sz="1350" dirty="0">
                <a:solidFill>
                  <a:srgbClr val="334155"/>
                </a:solidFill>
                <a:latin typeface="Calibri" pitchFamily="34" charset="0"/>
                <a:ea typeface="Calibri" pitchFamily="34" charset="-122"/>
                <a:cs typeface="Calibri" pitchFamily="34" charset="-120"/>
              </a:rPr>
              <a:t>Treat the frontend↔backend contract as first-class — most bugs were route/field mismatches, not logic.</a:t>
            </a:r>
            <a:endParaRPr lang="en-US" sz="1350" dirty="0"/>
          </a:p>
          <a:p>
            <a:pPr marL="177800" indent="-177800">
              <a:spcAft>
                <a:spcPts val="700"/>
              </a:spcAft>
              <a:buSzPct val="100000"/>
              <a:buChar char="•"/>
            </a:pPr>
            <a:r>
              <a:rPr lang="en-US" sz="1350" dirty="0">
                <a:solidFill>
                  <a:srgbClr val="334155"/>
                </a:solidFill>
                <a:latin typeface="Calibri" pitchFamily="34" charset="0"/>
                <a:ea typeface="Calibri" pitchFamily="34" charset="-122"/>
                <a:cs typeface="Calibri" pitchFamily="34" charset="-120"/>
              </a:rPr>
              <a:t>Build observability in from day one — structured logs and correlation IDs made every issue traceable.</a:t>
            </a:r>
            <a:endParaRPr lang="en-US" sz="1350" dirty="0"/>
          </a:p>
          <a:p>
            <a:pPr marL="177800" indent="-177800">
              <a:spcAft>
                <a:spcPts val="700"/>
              </a:spcAft>
              <a:buSzPct val="100000"/>
              <a:buChar char="•"/>
            </a:pPr>
            <a:r>
              <a:rPr lang="en-US" sz="1350" dirty="0">
                <a:solidFill>
                  <a:srgbClr val="334155"/>
                </a:solidFill>
                <a:latin typeface="Calibri" pitchFamily="34" charset="0"/>
                <a:ea typeface="Calibri" pitchFamily="34" charset="-122"/>
                <a:cs typeface="Calibri" pitchFamily="34" charset="-120"/>
              </a:rPr>
              <a:t>Scope to the 20% that demonstrates the 80% — a focused, working slice beats a broad, broken one.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3" name="Text 0"/>
          <p:cNvSpPr/>
          <p:nvPr/>
        </p:nvSpPr>
        <p:spPr>
          <a:xfrm>
            <a:off x="548640" y="6437376"/>
            <a:ext cx="45720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Autonomous DBA Agent</a:t>
            </a:r>
            <a:endParaRPr lang="en-US" sz="900" dirty="0"/>
          </a:p>
        </p:txBody>
      </p:sp>
      <p:sp>
        <p:nvSpPr>
          <p:cNvPr id="4" name="Text 1"/>
          <p:cNvSpPr/>
          <p:nvPr/>
        </p:nvSpPr>
        <p:spPr>
          <a:xfrm>
            <a:off x="11247120" y="6437376"/>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
        <p:nvSpPr>
          <p:cNvPr id="5" name="Shape 2"/>
          <p:cNvSpPr/>
          <p:nvPr/>
        </p:nvSpPr>
        <p:spPr>
          <a:xfrm>
            <a:off x="5797296" y="1371600"/>
            <a:ext cx="868680" cy="868680"/>
          </a:xfrm>
          <a:prstGeom prst="ellipse">
            <a:avLst/>
          </a:prstGeom>
          <a:solidFill>
            <a:srgbClr val="0D9488"/>
          </a:solidFill>
          <a:ln/>
          <a:effectLst>
            <a:outerShdw sx="100000" sy="100000" kx="0" ky="0" algn="bl" rotWithShape="0" blurRad="114300" dist="38100" dir="5400000">
              <a:srgbClr val="94A3B8">
                <a:alpha val="28000"/>
              </a:srgbClr>
            </a:outerShdw>
          </a:effectLst>
        </p:spPr>
      </p:sp>
      <p:pic>
        <p:nvPicPr>
          <p:cNvPr id="6" name="Image 0" descr="images/icons/chat.png">    </p:cNvPr>
          <p:cNvPicPr>
            <a:picLocks noChangeAspect="1"/>
          </p:cNvPicPr>
          <p:nvPr/>
        </p:nvPicPr>
        <p:blipFill>
          <a:blip r:embed="rId1"/>
          <a:stretch>
            <a:fillRect/>
          </a:stretch>
        </p:blipFill>
        <p:spPr>
          <a:xfrm>
            <a:off x="6005779" y="1580083"/>
            <a:ext cx="451714" cy="451714"/>
          </a:xfrm>
          <a:prstGeom prst="rect">
            <a:avLst/>
          </a:prstGeom>
        </p:spPr>
      </p:pic>
      <p:sp>
        <p:nvSpPr>
          <p:cNvPr id="7" name="Text 3"/>
          <p:cNvSpPr/>
          <p:nvPr/>
        </p:nvSpPr>
        <p:spPr>
          <a:xfrm>
            <a:off x="0" y="2423160"/>
            <a:ext cx="12188952" cy="822960"/>
          </a:xfrm>
          <a:prstGeom prst="rect">
            <a:avLst/>
          </a:prstGeom>
          <a:noFill/>
          <a:ln/>
        </p:spPr>
        <p:txBody>
          <a:bodyPr wrap="square" lIns="0" tIns="0" rIns="0" bIns="0" rtlCol="0" anchor="ctr"/>
          <a:lstStyle/>
          <a:p>
            <a:pPr algn="ctr" indent="0" marL="0">
              <a:buNone/>
            </a:pPr>
            <a:r>
              <a:rPr lang="en-US" sz="4600" b="1" dirty="0">
                <a:solidFill>
                  <a:srgbClr val="0F172A"/>
                </a:solidFill>
                <a:latin typeface="Trebuchet MS" pitchFamily="34" charset="0"/>
                <a:ea typeface="Trebuchet MS" pitchFamily="34" charset="-122"/>
                <a:cs typeface="Trebuchet MS" pitchFamily="34" charset="-120"/>
              </a:rPr>
              <a:t>Q &amp; A</a:t>
            </a:r>
            <a:endParaRPr lang="en-US" sz="4600" dirty="0"/>
          </a:p>
        </p:txBody>
      </p:sp>
      <p:sp>
        <p:nvSpPr>
          <p:cNvPr id="8" name="Text 4"/>
          <p:cNvSpPr/>
          <p:nvPr/>
        </p:nvSpPr>
        <p:spPr>
          <a:xfrm>
            <a:off x="0" y="3291840"/>
            <a:ext cx="12188952" cy="36576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Happy to dig into any part of the system</a:t>
            </a:r>
            <a:endParaRPr lang="en-US" sz="1600" dirty="0"/>
          </a:p>
        </p:txBody>
      </p:sp>
      <p:sp>
        <p:nvSpPr>
          <p:cNvPr id="9" name="Shape 5"/>
          <p:cNvSpPr/>
          <p:nvPr/>
        </p:nvSpPr>
        <p:spPr>
          <a:xfrm>
            <a:off x="608076" y="4160520"/>
            <a:ext cx="2606040" cy="91440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0" name="Text 6"/>
          <p:cNvSpPr/>
          <p:nvPr/>
        </p:nvSpPr>
        <p:spPr>
          <a:xfrm>
            <a:off x="745236" y="4251960"/>
            <a:ext cx="2331720" cy="731520"/>
          </a:xfrm>
          <a:prstGeom prst="rect">
            <a:avLst/>
          </a:prstGeom>
          <a:noFill/>
          <a:ln/>
        </p:spPr>
        <p:txBody>
          <a:bodyPr wrap="square" lIns="0" tIns="0" rIns="0" bIns="0" rtlCol="0" anchor="ctr"/>
          <a:lstStyle/>
          <a:p>
            <a:pPr algn="ctr" indent="0" marL="0">
              <a:buNone/>
            </a:pPr>
            <a:r>
              <a:rPr lang="en-US" sz="1250" b="1" dirty="0">
                <a:solidFill>
                  <a:srgbClr val="334155"/>
                </a:solidFill>
                <a:latin typeface="Calibri" pitchFamily="34" charset="0"/>
                <a:ea typeface="Calibri" pitchFamily="34" charset="-122"/>
                <a:cs typeface="Calibri" pitchFamily="34" charset="-120"/>
              </a:rPr>
              <a:t>How do you keep changes safe?</a:t>
            </a:r>
            <a:endParaRPr lang="en-US" sz="1250" dirty="0"/>
          </a:p>
        </p:txBody>
      </p:sp>
      <p:sp>
        <p:nvSpPr>
          <p:cNvPr id="11" name="Shape 7"/>
          <p:cNvSpPr/>
          <p:nvPr/>
        </p:nvSpPr>
        <p:spPr>
          <a:xfrm>
            <a:off x="3396996" y="4160520"/>
            <a:ext cx="2606040" cy="91440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2" name="Text 8"/>
          <p:cNvSpPr/>
          <p:nvPr/>
        </p:nvSpPr>
        <p:spPr>
          <a:xfrm>
            <a:off x="3534156" y="4251960"/>
            <a:ext cx="2331720" cy="731520"/>
          </a:xfrm>
          <a:prstGeom prst="rect">
            <a:avLst/>
          </a:prstGeom>
          <a:noFill/>
          <a:ln/>
        </p:spPr>
        <p:txBody>
          <a:bodyPr wrap="square" lIns="0" tIns="0" rIns="0" bIns="0" rtlCol="0" anchor="ctr"/>
          <a:lstStyle/>
          <a:p>
            <a:pPr algn="ctr" indent="0" marL="0">
              <a:buNone/>
            </a:pPr>
            <a:r>
              <a:rPr lang="en-US" sz="1250" b="1" dirty="0">
                <a:solidFill>
                  <a:srgbClr val="334155"/>
                </a:solidFill>
                <a:latin typeface="Calibri" pitchFamily="34" charset="0"/>
                <a:ea typeface="Calibri" pitchFamily="34" charset="-122"/>
                <a:cs typeface="Calibri" pitchFamily="34" charset="-120"/>
              </a:rPr>
              <a:t>How would this scale to many DBs?</a:t>
            </a:r>
            <a:endParaRPr lang="en-US" sz="1250" dirty="0"/>
          </a:p>
        </p:txBody>
      </p:sp>
      <p:sp>
        <p:nvSpPr>
          <p:cNvPr id="13" name="Shape 9"/>
          <p:cNvSpPr/>
          <p:nvPr/>
        </p:nvSpPr>
        <p:spPr>
          <a:xfrm>
            <a:off x="6185916" y="4160520"/>
            <a:ext cx="2606040" cy="91440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4" name="Text 10"/>
          <p:cNvSpPr/>
          <p:nvPr/>
        </p:nvSpPr>
        <p:spPr>
          <a:xfrm>
            <a:off x="6323076" y="4251960"/>
            <a:ext cx="2331720" cy="731520"/>
          </a:xfrm>
          <a:prstGeom prst="rect">
            <a:avLst/>
          </a:prstGeom>
          <a:noFill/>
          <a:ln/>
        </p:spPr>
        <p:txBody>
          <a:bodyPr wrap="square" lIns="0" tIns="0" rIns="0" bIns="0" rtlCol="0" anchor="ctr"/>
          <a:lstStyle/>
          <a:p>
            <a:pPr algn="ctr" indent="0" marL="0">
              <a:buNone/>
            </a:pPr>
            <a:r>
              <a:rPr lang="en-US" sz="1250" b="1" dirty="0">
                <a:solidFill>
                  <a:srgbClr val="334155"/>
                </a:solidFill>
                <a:latin typeface="Calibri" pitchFamily="34" charset="0"/>
                <a:ea typeface="Calibri" pitchFamily="34" charset="-122"/>
                <a:cs typeface="Calibri" pitchFamily="34" charset="-120"/>
              </a:rPr>
              <a:t>Why both rule-based &amp; LLM?</a:t>
            </a:r>
            <a:endParaRPr lang="en-US" sz="1250" dirty="0"/>
          </a:p>
        </p:txBody>
      </p:sp>
      <p:sp>
        <p:nvSpPr>
          <p:cNvPr id="15" name="Shape 11"/>
          <p:cNvSpPr/>
          <p:nvPr/>
        </p:nvSpPr>
        <p:spPr>
          <a:xfrm>
            <a:off x="8974836" y="4160520"/>
            <a:ext cx="2606040" cy="914400"/>
          </a:xfrm>
          <a:prstGeom prst="roundRect">
            <a:avLst>
              <a:gd name="adj" fmla="val 10000"/>
            </a:avLst>
          </a:prstGeom>
          <a:solidFill>
            <a:srgbClr val="FFFFFF"/>
          </a:solidFill>
          <a:ln w="12700">
            <a:solidFill>
              <a:srgbClr val="E2E8F0"/>
            </a:solidFill>
            <a:prstDash val="solid"/>
          </a:ln>
          <a:effectLst>
            <a:outerShdw sx="100000" sy="100000" kx="0" ky="0" algn="bl" rotWithShape="0" blurRad="114300" dist="38100" dir="5400000">
              <a:srgbClr val="94A3B8">
                <a:alpha val="28000"/>
              </a:srgbClr>
            </a:outerShdw>
          </a:effectLst>
        </p:spPr>
      </p:sp>
      <p:sp>
        <p:nvSpPr>
          <p:cNvPr id="16" name="Text 12"/>
          <p:cNvSpPr/>
          <p:nvPr/>
        </p:nvSpPr>
        <p:spPr>
          <a:xfrm>
            <a:off x="9111996" y="4251960"/>
            <a:ext cx="2331720" cy="731520"/>
          </a:xfrm>
          <a:prstGeom prst="rect">
            <a:avLst/>
          </a:prstGeom>
          <a:noFill/>
          <a:ln/>
        </p:spPr>
        <p:txBody>
          <a:bodyPr wrap="square" lIns="0" tIns="0" rIns="0" bIns="0" rtlCol="0" anchor="ctr"/>
          <a:lstStyle/>
          <a:p>
            <a:pPr algn="ctr" indent="0" marL="0">
              <a:buNone/>
            </a:pPr>
            <a:r>
              <a:rPr lang="en-US" sz="1250" b="1" dirty="0">
                <a:solidFill>
                  <a:srgbClr val="334155"/>
                </a:solidFill>
                <a:latin typeface="Calibri" pitchFamily="34" charset="0"/>
                <a:ea typeface="Calibri" pitchFamily="34" charset="-122"/>
                <a:cs typeface="Calibri" pitchFamily="34" charset="-120"/>
              </a:rPr>
              <a:t>What would you build next?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0" y="2240280"/>
            <a:ext cx="12188952"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Trebuchet MS" pitchFamily="34" charset="0"/>
                <a:ea typeface="Trebuchet MS" pitchFamily="34" charset="-122"/>
                <a:cs typeface="Trebuchet MS" pitchFamily="34" charset="-120"/>
              </a:rPr>
              <a:t>Thank You</a:t>
            </a:r>
            <a:endParaRPr lang="en-US" sz="5400" dirty="0"/>
          </a:p>
        </p:txBody>
      </p:sp>
      <p:sp>
        <p:nvSpPr>
          <p:cNvPr id="4" name="Text 1"/>
          <p:cNvSpPr/>
          <p:nvPr/>
        </p:nvSpPr>
        <p:spPr>
          <a:xfrm>
            <a:off x="0" y="3337560"/>
            <a:ext cx="12188952" cy="365760"/>
          </a:xfrm>
          <a:prstGeom prst="rect">
            <a:avLst/>
          </a:prstGeom>
          <a:noFill/>
          <a:ln/>
        </p:spPr>
        <p:txBody>
          <a:bodyPr wrap="square" lIns="0" tIns="0" rIns="0" bIns="0" rtlCol="0" anchor="ctr"/>
          <a:lstStyle/>
          <a:p>
            <a:pPr algn="ctr" indent="0" marL="0">
              <a:buNone/>
            </a:pPr>
            <a:r>
              <a:rPr lang="en-US" sz="1700" dirty="0">
                <a:solidFill>
                  <a:srgbClr val="67E8F9"/>
                </a:solidFill>
                <a:latin typeface="Calibri" pitchFamily="34" charset="0"/>
                <a:ea typeface="Calibri" pitchFamily="34" charset="-122"/>
                <a:cs typeface="Calibri" pitchFamily="34" charset="-120"/>
              </a:rPr>
              <a:t>AI-Powered Autonomous Database Administrator</a:t>
            </a:r>
            <a:endParaRPr lang="en-US" sz="1700" dirty="0"/>
          </a:p>
        </p:txBody>
      </p:sp>
      <p:sp>
        <p:nvSpPr>
          <p:cNvPr id="5" name="Shape 2"/>
          <p:cNvSpPr/>
          <p:nvPr/>
        </p:nvSpPr>
        <p:spPr>
          <a:xfrm>
            <a:off x="5728716" y="3977640"/>
            <a:ext cx="731520" cy="32004"/>
          </a:xfrm>
          <a:prstGeom prst="rect">
            <a:avLst/>
          </a:prstGeom>
          <a:solidFill>
            <a:srgbClr val="06B6D4"/>
          </a:solidFill>
          <a:ln/>
        </p:spPr>
      </p:sp>
      <p:sp>
        <p:nvSpPr>
          <p:cNvPr id="6" name="Text 3"/>
          <p:cNvSpPr/>
          <p:nvPr/>
        </p:nvSpPr>
        <p:spPr>
          <a:xfrm>
            <a:off x="0" y="4206240"/>
            <a:ext cx="12188952" cy="822960"/>
          </a:xfrm>
          <a:prstGeom prst="rect">
            <a:avLst/>
          </a:prstGeom>
          <a:noFill/>
          <a:ln/>
        </p:spPr>
        <p:txBody>
          <a:bodyPr wrap="square" lIns="0" tIns="0" rIns="0" bIns="0" rtlCol="0" anchor="ctr"/>
          <a:lstStyle/>
          <a:p>
            <a:pPr algn="ctr" indent="0" marL="0">
              <a:lnSpc>
                <a:spcPct val="130000"/>
              </a:lnSpc>
              <a:buNone/>
            </a:pPr>
            <a:r>
              <a:rPr lang="en-US" sz="1600" b="1" dirty="0">
                <a:solidFill>
                  <a:srgbClr val="FFFFFF"/>
                </a:solidFill>
                <a:latin typeface="Calibri" pitchFamily="34" charset="0"/>
                <a:ea typeface="Calibri" pitchFamily="34" charset="-122"/>
                <a:cs typeface="Calibri" pitchFamily="34" charset="-120"/>
              </a:rPr>
              <a:t>Swapneel Kulkarni</a:t>
            </a:r>
            <a:endParaRPr lang="en-US" sz="1600" dirty="0"/>
          </a:p>
          <a:p>
            <a:pPr algn="ctr" indent="0" marL="0">
              <a:lnSpc>
                <a:spcPct val="130000"/>
              </a:lnSpc>
              <a:buNone/>
            </a:pPr>
            <a:r>
              <a:rPr lang="en-US" sz="1600" dirty="0">
                <a:solidFill>
                  <a:srgbClr val="CBD5E1"/>
                </a:solidFill>
                <a:latin typeface="Calibri" pitchFamily="34" charset="0"/>
                <a:ea typeface="Calibri" pitchFamily="34" charset="-122"/>
                <a:cs typeface="Calibri" pitchFamily="34" charset="-120"/>
              </a:rPr>
              <a:t>swapneel2121@gmail.com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Autonomous Database Administrator</dc:title>
  <dc:subject>PptxGenJS Presentation</dc:subject>
  <dc:creator>Swapneel Kulkarni</dc:creator>
  <cp:lastModifiedBy>Swapneel Kulkarni</cp:lastModifiedBy>
  <cp:revision>1</cp:revision>
  <dcterms:created xsi:type="dcterms:W3CDTF">2026-06-19T01:08:36Z</dcterms:created>
  <dcterms:modified xsi:type="dcterms:W3CDTF">2026-06-19T01:08:36Z</dcterms:modified>
</cp:coreProperties>
</file>